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90" r:id="rId6"/>
    <p:sldId id="2599" r:id="rId7"/>
    <p:sldId id="2591" r:id="rId8"/>
    <p:sldId id="2593" r:id="rId9"/>
    <p:sldId id="2594" r:id="rId10"/>
    <p:sldId id="2595" r:id="rId11"/>
    <p:sldId id="2598" r:id="rId12"/>
    <p:sldId id="2596" r:id="rId13"/>
    <p:sldId id="2589" r:id="rId14"/>
    <p:sldId id="2597" r:id="rId15"/>
    <p:sldId id="2582" r:id="rId16"/>
    <p:sldId id="2587" r:id="rId17"/>
    <p:sldId id="2585" r:id="rId18"/>
    <p:sldId id="2588" r:id="rId19"/>
    <p:sldId id="2584" r:id="rId20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8" autoAdjust="0"/>
    <p:restoredTop sz="94660"/>
  </p:normalViewPr>
  <p:slideViewPr>
    <p:cSldViewPr snapToGrid="0">
      <p:cViewPr varScale="1">
        <p:scale>
          <a:sx n="75" d="100"/>
          <a:sy n="75" d="100"/>
        </p:scale>
        <p:origin x="78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12.11.2025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12.11.2025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9BE2-0BF2-2326-3BF6-14192C1F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48ACFDB-F93A-90C6-BBF0-7AD66960D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2908064-B474-649B-93EE-F6AFCE7C7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D4BF1C-E404-9D8E-31CC-B4536127F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5729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12.11.2025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12.11.2025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12.11.2025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12.11.2025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12.11.2025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xmox.com/de/" TargetMode="External"/><Relationship Id="rId3" Type="http://schemas.openxmlformats.org/officeDocument/2006/relationships/hyperlink" Target="https://wazuh.com/platform/overview/" TargetMode="External"/><Relationship Id="rId7" Type="http://schemas.openxmlformats.org/officeDocument/2006/relationships/hyperlink" Target="https://docs.securityonion.net/en/2.4/" TargetMode="External"/><Relationship Id="rId2" Type="http://schemas.openxmlformats.org/officeDocument/2006/relationships/hyperlink" Target="https://www.paloaltonetworks.de/cyberpedia/what-is-an-intrusion-detection-system-id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nort.org/documents#OfficialDocumentation" TargetMode="External"/><Relationship Id="rId5" Type="http://schemas.openxmlformats.org/officeDocument/2006/relationships/hyperlink" Target="https://tailscale.com/" TargetMode="External"/><Relationship Id="rId10" Type="http://schemas.openxmlformats.org/officeDocument/2006/relationships/hyperlink" Target="https://www.youtube.com/watch?v=K7y_-JtpZ7I" TargetMode="External"/><Relationship Id="rId4" Type="http://schemas.openxmlformats.org/officeDocument/2006/relationships/hyperlink" Target="https://www.wireguard.com/" TargetMode="External"/><Relationship Id="rId9" Type="http://schemas.openxmlformats.org/officeDocument/2006/relationships/hyperlink" Target="https://www.youtube.com/watch?v=EWJM3tERMX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azuh.com/platform/overview/" TargetMode="External"/><Relationship Id="rId2" Type="http://schemas.openxmlformats.org/officeDocument/2006/relationships/hyperlink" Target="https://www.paloaltonetworks.de/cyberpedia/what-is-an-intrusion-detection-system-id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ireguard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094902" y="2749444"/>
            <a:ext cx="8002195" cy="1459726"/>
          </a:xfrm>
          <a:prstGeom prst="rect">
            <a:avLst/>
          </a:prstGeom>
        </p:spPr>
        <p:txBody>
          <a:bodyPr/>
          <a:lstStyle/>
          <a:p>
            <a:r>
              <a:rPr lang="de-DE" sz="3200" b="1" dirty="0">
                <a:solidFill>
                  <a:srgbClr val="9BBB59"/>
                </a:solidFill>
              </a:rPr>
              <a:t>Virtuelle </a:t>
            </a:r>
            <a:r>
              <a:rPr lang="de-DE" sz="3200" b="1" dirty="0" err="1">
                <a:solidFill>
                  <a:srgbClr val="9BBB59"/>
                </a:solidFill>
              </a:rPr>
              <a:t>Cybersecurity</a:t>
            </a:r>
            <a:r>
              <a:rPr lang="de-DE" sz="3200" b="1" dirty="0">
                <a:solidFill>
                  <a:srgbClr val="9BBB59"/>
                </a:solidFill>
              </a:rPr>
              <a:t>-Testumgebung mit IDS </a:t>
            </a:r>
          </a:p>
          <a:p>
            <a:r>
              <a:rPr lang="de-DE" sz="3200" b="1" dirty="0">
                <a:solidFill>
                  <a:srgbClr val="9BBB59"/>
                </a:solidFill>
              </a:rPr>
              <a:t>1. Zwischenpräsentation</a:t>
            </a: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121" y="4209170"/>
            <a:ext cx="22265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54000">
            <a:spAutoFit/>
          </a:bodyPr>
          <a:lstStyle/>
          <a:p>
            <a:r>
              <a:rPr lang="nl-NL" sz="2000" dirty="0"/>
              <a:t>Tobias Eichelberger</a:t>
            </a:r>
          </a:p>
          <a:p>
            <a:r>
              <a:rPr lang="nl-NL" sz="2000" dirty="0"/>
              <a:t>Lukas </a:t>
            </a:r>
            <a:r>
              <a:rPr lang="nl-NL" sz="2000" dirty="0" err="1"/>
              <a:t>Macuha</a:t>
            </a:r>
            <a:endParaRPr lang="nl-NL" sz="2000" dirty="0"/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054" y="4943680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12.11.2025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750" y="5286388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DI Dr.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60839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767F8-18D8-EF49-7FEF-46B7C4F2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865CE-A107-6C65-FA24-D046FAE56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D18969-D0BB-988F-9930-E6AD6BC96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48" y="1095823"/>
            <a:ext cx="10926390" cy="5073427"/>
          </a:xfrm>
        </p:spPr>
        <p:txBody>
          <a:bodyPr>
            <a:normAutofit/>
          </a:bodyPr>
          <a:lstStyle/>
          <a:p>
            <a:r>
              <a:rPr lang="de-DE" dirty="0"/>
              <a:t>Milestones</a:t>
            </a:r>
          </a:p>
          <a:p>
            <a:pPr lvl="1"/>
            <a:r>
              <a:rPr lang="de-DE" dirty="0"/>
              <a:t>18.05.2025 – </a:t>
            </a:r>
            <a:r>
              <a:rPr lang="de-DE" dirty="0" err="1"/>
              <a:t>Proxmox</a:t>
            </a:r>
            <a:r>
              <a:rPr lang="de-DE" dirty="0"/>
              <a:t>-Server eingerichtet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>
              <a:solidFill>
                <a:srgbClr val="00B050"/>
              </a:solidFill>
            </a:endParaRPr>
          </a:p>
          <a:p>
            <a:pPr lvl="1"/>
            <a:r>
              <a:rPr lang="de-DE" dirty="0"/>
              <a:t>06.07.2025 – VPN-Verbindung erfolgreich eingerichtet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dirty="0"/>
              <a:t>26.07.2025 – GNS3 installiert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/>
          </a:p>
          <a:p>
            <a:pPr lvl="1"/>
            <a:r>
              <a:rPr lang="de-DE" dirty="0"/>
              <a:t>17.08.2025 – Client und Domaincontroller eingerichtet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/>
          </a:p>
          <a:p>
            <a:pPr lvl="1"/>
            <a:r>
              <a:rPr lang="de-DE" dirty="0"/>
              <a:t>28.08.2025 – Netzwerkscan mit </a:t>
            </a:r>
            <a:r>
              <a:rPr lang="de-DE" dirty="0" err="1"/>
              <a:t>Nmap</a:t>
            </a:r>
            <a:r>
              <a:rPr lang="de-DE" dirty="0"/>
              <a:t> und </a:t>
            </a:r>
            <a:r>
              <a:rPr lang="de-DE" dirty="0" err="1"/>
              <a:t>Netdiscover</a:t>
            </a:r>
            <a:r>
              <a:rPr lang="de-DE" dirty="0"/>
              <a:t> durchgeführt – </a:t>
            </a:r>
            <a:r>
              <a:rPr lang="de-AT" dirty="0"/>
              <a:t>✅</a:t>
            </a:r>
            <a:endParaRPr lang="de-DE" dirty="0"/>
          </a:p>
          <a:p>
            <a:pPr lvl="1"/>
            <a:r>
              <a:rPr lang="de-DE" dirty="0"/>
              <a:t>31.08.2025 – Drei IDS-Systeme miteinander verglichen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/>
          </a:p>
          <a:p>
            <a:pPr lvl="1"/>
            <a:r>
              <a:rPr lang="de-DE" dirty="0"/>
              <a:t>07.09.2025 – Ausgewähltes IDS-System implementiert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/>
          </a:p>
          <a:p>
            <a:pPr lvl="1"/>
            <a:r>
              <a:rPr lang="de-DE" dirty="0"/>
              <a:t>13.09.2025 – Erste Simulation mit </a:t>
            </a:r>
            <a:r>
              <a:rPr lang="de-DE" dirty="0" err="1"/>
              <a:t>Mimikatz</a:t>
            </a:r>
            <a:r>
              <a:rPr lang="de-DE" dirty="0"/>
              <a:t> und Metasploit durchgeführt – </a:t>
            </a:r>
            <a:r>
              <a:rPr lang="de-AT" dirty="0"/>
              <a:t>❌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15.09.2025 – Reaktion des IDS überprüft – </a:t>
            </a:r>
            <a:r>
              <a:rPr lang="de-AT" dirty="0"/>
              <a:t>✅</a:t>
            </a:r>
            <a:r>
              <a:rPr lang="de-DE" dirty="0"/>
              <a:t> </a:t>
            </a:r>
          </a:p>
          <a:p>
            <a:pPr lvl="1"/>
            <a:r>
              <a:rPr lang="de-AT" dirty="0"/>
              <a:t>31.01.2026 </a:t>
            </a:r>
            <a:r>
              <a:rPr lang="de-DE" dirty="0"/>
              <a:t>– Dokumentation abgeschlossen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C5FC09-7AD7-C019-8236-F62D5933A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8501A8-A6BE-5D0A-BA53-CF087C0A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7746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3EA1119-648C-9E2B-A3BA-76FC6597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 anchor="ctr">
            <a:normAutofit/>
          </a:bodyPr>
          <a:lstStyle/>
          <a:p>
            <a:r>
              <a:rPr lang="en-US" dirty="0"/>
              <a:t>PM</a:t>
            </a:r>
          </a:p>
        </p:txBody>
      </p:sp>
      <p:pic>
        <p:nvPicPr>
          <p:cNvPr id="14" name="Inhaltsplatzhalter 13">
            <a:extLst>
              <a:ext uri="{FF2B5EF4-FFF2-40B4-BE49-F238E27FC236}">
                <a16:creationId xmlns:a16="http://schemas.microsoft.com/office/drawing/2014/main" id="{72E46ED7-0E49-859E-A641-B04819876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000" y="2092501"/>
            <a:ext cx="11880000" cy="2672998"/>
          </a:xfrm>
          <a:prstGeom prst="rect">
            <a:avLst/>
          </a:prstGeom>
          <a:noFill/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E1A482-D6C3-92FB-37B3-9737E28E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4DF722-B63B-EC29-25BE-295952B7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CD6803-3BAA-44F6-A698-23D950C9713B}" type="slidenum">
              <a:rPr lang="de-AT" smtClean="0"/>
              <a:pPr>
                <a:spcAft>
                  <a:spcPts val="600"/>
                </a:spcAft>
              </a:pPr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6610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3F50-63EB-975B-052E-6CDA643A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59345-1FFB-A8DE-4E9C-01DE1EEF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30E89F-3BC2-D8E9-F086-DDEBB86DC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Kosten</a:t>
            </a:r>
          </a:p>
          <a:p>
            <a:pPr lvl="1"/>
            <a:r>
              <a:rPr lang="de-AT" dirty="0"/>
              <a:t>Lüfter Server 13,80€</a:t>
            </a:r>
          </a:p>
          <a:p>
            <a:pPr lvl="1"/>
            <a:r>
              <a:rPr lang="de-AT" dirty="0"/>
              <a:t>Buchdruck 50€</a:t>
            </a:r>
          </a:p>
          <a:p>
            <a:pPr lvl="1"/>
            <a:r>
              <a:rPr lang="de-AT" dirty="0"/>
              <a:t>Betriebskosten Server (Strom)</a:t>
            </a:r>
          </a:p>
          <a:p>
            <a:pPr lvl="1"/>
            <a:endParaRPr lang="de-AT" dirty="0"/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848ABB-E0F2-1A5C-A69E-AF6F85C7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0F7D5F-443D-7653-7A7C-F38FDF9B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0864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9D9AC-A98C-3B4E-3608-5900FAF1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Aktueller Stand – Eichelberger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913CEC-C1DB-86B6-17C5-9B4905DEB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8"/>
            <a:ext cx="6593840" cy="3549741"/>
          </a:xfrm>
        </p:spPr>
        <p:txBody>
          <a:bodyPr>
            <a:normAutofit lnSpcReduction="10000"/>
          </a:bodyPr>
          <a:lstStyle/>
          <a:p>
            <a:r>
              <a:rPr lang="de-AT" dirty="0"/>
              <a:t>IDS-Systeme</a:t>
            </a:r>
          </a:p>
          <a:p>
            <a:pPr lvl="1"/>
            <a:r>
              <a:rPr lang="de-AT" dirty="0" err="1"/>
              <a:t>Wazuh</a:t>
            </a:r>
            <a:r>
              <a:rPr lang="de-AT" dirty="0"/>
              <a:t> – in der Umgebung implementiert</a:t>
            </a:r>
          </a:p>
          <a:p>
            <a:pPr lvl="1"/>
            <a:r>
              <a:rPr lang="de-AT" dirty="0" err="1"/>
              <a:t>Snort</a:t>
            </a:r>
            <a:endParaRPr lang="de-AT" dirty="0"/>
          </a:p>
          <a:p>
            <a:pPr lvl="1"/>
            <a:r>
              <a:rPr lang="de-AT" dirty="0"/>
              <a:t>Security </a:t>
            </a:r>
            <a:r>
              <a:rPr lang="de-AT" dirty="0" err="1"/>
              <a:t>Onion</a:t>
            </a:r>
            <a:endParaRPr lang="de-AT" dirty="0"/>
          </a:p>
          <a:p>
            <a:r>
              <a:rPr lang="de-AT" dirty="0"/>
              <a:t>VPN – Verbindung</a:t>
            </a:r>
          </a:p>
          <a:p>
            <a:pPr lvl="1"/>
            <a:r>
              <a:rPr lang="de-AT" dirty="0" err="1"/>
              <a:t>Tailscale</a:t>
            </a:r>
            <a:r>
              <a:rPr lang="de-AT" dirty="0"/>
              <a:t> erfolgreich eingerichtet</a:t>
            </a:r>
          </a:p>
          <a:p>
            <a:r>
              <a:rPr lang="de-AT" dirty="0" err="1"/>
              <a:t>Proxmox</a:t>
            </a:r>
            <a:r>
              <a:rPr lang="de-AT" dirty="0"/>
              <a:t>-Server aufgesetzt</a:t>
            </a:r>
          </a:p>
          <a:p>
            <a:r>
              <a:rPr lang="de-DE" dirty="0"/>
              <a:t>IDS-Reaktion überprüft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A782E7-D632-A5D4-F92A-42221D36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12CCAB-0E11-D19E-1B09-88EE0DE9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50572B7-569D-0852-011C-5477CC6CF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070" y="1080529"/>
            <a:ext cx="4976734" cy="335326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B672E5C-94BF-18CE-6C8F-43F2697F9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942" y="4039876"/>
            <a:ext cx="3360035" cy="205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18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F748D-C9D6-70B9-2259-D7C603FB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Aktueller Stand – </a:t>
            </a:r>
            <a:r>
              <a:rPr lang="de-AT" dirty="0" err="1"/>
              <a:t>Macuha</a:t>
            </a:r>
            <a:r>
              <a:rPr lang="de-AT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0B9593-7C2A-48E6-DA59-48200AE5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Kali Linux vollständig aufgesetzt</a:t>
            </a:r>
          </a:p>
          <a:p>
            <a:pPr lvl="1"/>
            <a:r>
              <a:rPr lang="de-DE" dirty="0" err="1"/>
              <a:t>Impacket</a:t>
            </a:r>
            <a:endParaRPr lang="de-DE" dirty="0"/>
          </a:p>
          <a:p>
            <a:pPr lvl="1"/>
            <a:r>
              <a:rPr lang="de-DE" dirty="0" err="1"/>
              <a:t>BloodHound</a:t>
            </a:r>
            <a:endParaRPr lang="de-DE" dirty="0"/>
          </a:p>
          <a:p>
            <a:pPr lvl="1"/>
            <a:r>
              <a:rPr lang="de-DE" dirty="0" err="1"/>
              <a:t>Mimikatz</a:t>
            </a:r>
            <a:endParaRPr lang="de-DE" dirty="0"/>
          </a:p>
          <a:p>
            <a:pPr lvl="1"/>
            <a:r>
              <a:rPr lang="de-DE" dirty="0"/>
              <a:t>Evil-</a:t>
            </a:r>
            <a:r>
              <a:rPr lang="de-DE" dirty="0" err="1"/>
              <a:t>WinRM</a:t>
            </a:r>
            <a:endParaRPr lang="de-DE" dirty="0"/>
          </a:p>
          <a:p>
            <a:pPr lvl="1"/>
            <a:r>
              <a:rPr lang="de-DE" dirty="0" err="1"/>
              <a:t>crackmapexec</a:t>
            </a:r>
            <a:endParaRPr lang="de-AT" dirty="0"/>
          </a:p>
          <a:p>
            <a:r>
              <a:rPr lang="de-DE" dirty="0"/>
              <a:t>IDS-Reaktion getestet</a:t>
            </a:r>
          </a:p>
          <a:p>
            <a:r>
              <a:rPr lang="de-DE" dirty="0"/>
              <a:t>Erfolgreich Zugriff auf die Windows-11-VM erhalten</a:t>
            </a:r>
          </a:p>
          <a:p>
            <a:r>
              <a:rPr lang="de-DE" dirty="0"/>
              <a:t>Versuch, das Passwort per Brute-Force zu knacken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2B7E33-1B1D-DB85-F19F-D8121096D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327C0C-2B26-063E-B635-B232EE45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9854E7-CEC8-98B5-1AA0-9841348E9E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" t="47203" r="48712" b="1"/>
          <a:stretch>
            <a:fillRect/>
          </a:stretch>
        </p:blipFill>
        <p:spPr bwMode="auto">
          <a:xfrm>
            <a:off x="6243809" y="372600"/>
            <a:ext cx="4826527" cy="362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02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50474-149F-F33B-72A5-25F1271D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Probleme &amp; Lösungen – Eichelberger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2DAE6E-E49B-727E-589D-B0B28DF12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/>
              <a:t>Proxmox</a:t>
            </a:r>
            <a:r>
              <a:rPr lang="de-AT" dirty="0"/>
              <a:t> Installation (20 Stunden)</a:t>
            </a:r>
          </a:p>
          <a:p>
            <a:pPr lvl="1"/>
            <a:r>
              <a:rPr lang="de-AT" dirty="0"/>
              <a:t>Problem: </a:t>
            </a:r>
            <a:r>
              <a:rPr lang="de-AT" dirty="0" err="1"/>
              <a:t>Proxmox</a:t>
            </a:r>
            <a:r>
              <a:rPr lang="de-AT" dirty="0"/>
              <a:t> ISO-Installation hat nicht funktioniert</a:t>
            </a:r>
          </a:p>
          <a:p>
            <a:pPr lvl="1"/>
            <a:r>
              <a:rPr lang="de-AT" dirty="0"/>
              <a:t>Lösung: Debian installiert → </a:t>
            </a:r>
            <a:r>
              <a:rPr lang="de-AT" dirty="0" err="1"/>
              <a:t>Proxmox</a:t>
            </a:r>
            <a:r>
              <a:rPr lang="de-AT" dirty="0"/>
              <a:t> manuell nachinstalliert</a:t>
            </a:r>
          </a:p>
          <a:p>
            <a:r>
              <a:rPr lang="de-AT" dirty="0"/>
              <a:t>VPN-Verbindung (15 Stunden)</a:t>
            </a:r>
          </a:p>
          <a:p>
            <a:pPr lvl="1"/>
            <a:r>
              <a:rPr lang="de-AT" dirty="0"/>
              <a:t>Problem: Einrichtung von VPN-Verbindung mit </a:t>
            </a:r>
            <a:r>
              <a:rPr lang="de-AT" dirty="0" err="1"/>
              <a:t>WireGuard</a:t>
            </a:r>
            <a:endParaRPr lang="de-AT" dirty="0"/>
          </a:p>
          <a:p>
            <a:pPr lvl="1"/>
            <a:r>
              <a:rPr lang="de-AT" dirty="0"/>
              <a:t>Lösung: Einsatz von </a:t>
            </a:r>
            <a:r>
              <a:rPr lang="de-AT" dirty="0" err="1"/>
              <a:t>Tailscale</a:t>
            </a:r>
            <a:r>
              <a:rPr lang="de-AT" dirty="0"/>
              <a:t>, das auf </a:t>
            </a:r>
            <a:r>
              <a:rPr lang="de-AT" dirty="0" err="1"/>
              <a:t>WireGuard</a:t>
            </a:r>
            <a:r>
              <a:rPr lang="de-AT" dirty="0"/>
              <a:t> basiert</a:t>
            </a:r>
          </a:p>
          <a:p>
            <a:r>
              <a:rPr lang="de-AT" dirty="0"/>
              <a:t>Internet auf den VMs (10 Stunden)</a:t>
            </a:r>
          </a:p>
          <a:p>
            <a:pPr lvl="1"/>
            <a:r>
              <a:rPr lang="de-AT" dirty="0"/>
              <a:t>Problem: Sollte über GNS3 funktionieren</a:t>
            </a:r>
          </a:p>
          <a:p>
            <a:pPr lvl="1"/>
            <a:r>
              <a:rPr lang="de-AT" dirty="0"/>
              <a:t>Provisorische Lösung: Netzwerkadapter direkt an VM hängen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42FD26-721F-16EF-FFEA-50521B2D2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CFC13F-EC8F-3E08-7553-E7241A27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350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0FA8B-23D1-E3E6-3AE4-C96D9ADCD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131A11-5F76-8CE1-7291-46CDF3DA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Probleme &amp; Lösungen – Macuha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2128CF-BF55-2BAD-A684-70BBAC8D3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1052739"/>
            <a:ext cx="11740896" cy="5073427"/>
          </a:xfrm>
        </p:spPr>
        <p:txBody>
          <a:bodyPr>
            <a:normAutofit/>
          </a:bodyPr>
          <a:lstStyle/>
          <a:p>
            <a:r>
              <a:rPr lang="de-DE" dirty="0"/>
              <a:t>Metasploit auf Windows (15 Stunden)</a:t>
            </a:r>
          </a:p>
          <a:p>
            <a:pPr lvl="1"/>
            <a:r>
              <a:rPr lang="de-DE" dirty="0"/>
              <a:t>Problem: Ich habe versucht, Metasploit auf Windows zu benutzen.</a:t>
            </a:r>
          </a:p>
          <a:p>
            <a:pPr lvl="1"/>
            <a:r>
              <a:rPr lang="de-DE" dirty="0"/>
              <a:t>Lösung: Kali Linux herunterladen.</a:t>
            </a:r>
          </a:p>
          <a:p>
            <a:r>
              <a:rPr lang="de-DE" dirty="0"/>
              <a:t>Verbindung zur Windows-11-VM ( 20 Stunden)</a:t>
            </a:r>
          </a:p>
          <a:p>
            <a:pPr lvl="1"/>
            <a:r>
              <a:rPr lang="de-DE" dirty="0"/>
              <a:t>Problem: Der NTLM-Handshake fehlte, als ich </a:t>
            </a:r>
            <a:r>
              <a:rPr lang="de-DE" dirty="0" err="1"/>
              <a:t>Meterpreter</a:t>
            </a:r>
            <a:r>
              <a:rPr lang="de-DE" dirty="0"/>
              <a:t> benutzen wollte.	</a:t>
            </a:r>
          </a:p>
          <a:p>
            <a:pPr lvl="1"/>
            <a:r>
              <a:rPr lang="de-DE" dirty="0"/>
              <a:t>Lösung: Ich habe eine andere Verbindungsmethode benutzt (Evil-</a:t>
            </a:r>
            <a:r>
              <a:rPr lang="de-DE" dirty="0" err="1"/>
              <a:t>WinRM</a:t>
            </a:r>
            <a:r>
              <a:rPr lang="de-DE" dirty="0"/>
              <a:t>).</a:t>
            </a:r>
          </a:p>
          <a:p>
            <a:r>
              <a:rPr lang="de-DE" dirty="0"/>
              <a:t>Brute-Force / Passwortangriff (10 Stunden)</a:t>
            </a:r>
          </a:p>
          <a:p>
            <a:pPr lvl="1"/>
            <a:r>
              <a:rPr lang="de-DE" dirty="0"/>
              <a:t>Problem: Da der Server nicht für SSH konfiguriert war, funktioniert Hydra nicht.</a:t>
            </a:r>
          </a:p>
          <a:p>
            <a:pPr lvl="1"/>
            <a:r>
              <a:rPr lang="de-DE" dirty="0"/>
              <a:t>Lösung: Ich musste </a:t>
            </a:r>
            <a:r>
              <a:rPr lang="de-DE" dirty="0" err="1"/>
              <a:t>CrackMapExec</a:t>
            </a:r>
            <a:r>
              <a:rPr lang="de-DE" dirty="0"/>
              <a:t> herunterladen, um RDP oder SMB als Verbindungstyp zu benutzen.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32843B-24EF-77CB-DFF2-E02AB4E2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Macuha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3BDFFC-AD71-4E32-E937-8EBADA60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92194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2862-54DB-2195-9164-BE96C19B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3F3262-EEC7-6F07-7DFE-A3C6C5C1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6BDC6E-B588-D386-F914-D3B24301B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2739"/>
            <a:ext cx="12192000" cy="5073427"/>
          </a:xfrm>
        </p:spPr>
        <p:txBody>
          <a:bodyPr>
            <a:normAutofit/>
          </a:bodyPr>
          <a:lstStyle/>
          <a:p>
            <a:r>
              <a:rPr lang="de-DE" sz="2200" dirty="0"/>
              <a:t>Bis dato durchgesehen:</a:t>
            </a:r>
            <a:endParaRPr lang="de-AT" sz="2200" dirty="0"/>
          </a:p>
          <a:p>
            <a:pPr lvl="1"/>
            <a:r>
              <a:rPr lang="de-AT" sz="2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https://www.paloaltonetworks.de/cyberpedia/what-is-an-intrusion-detection-system-ids</a:t>
            </a:r>
            <a:endParaRPr lang="de-AT" sz="2200" dirty="0"/>
          </a:p>
          <a:p>
            <a:pPr lvl="1"/>
            <a:r>
              <a:rPr lang="de-AT" sz="2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https://wazuh.com/platform/overview/</a:t>
            </a:r>
            <a:endParaRPr lang="de-AT" sz="2200" dirty="0"/>
          </a:p>
          <a:p>
            <a:pPr lvl="1"/>
            <a:r>
              <a:rPr lang="de-AT" sz="2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https://www.wireguard.com/</a:t>
            </a:r>
            <a:endParaRPr lang="de-AT" sz="2200" dirty="0"/>
          </a:p>
          <a:p>
            <a:pPr lvl="1"/>
            <a:r>
              <a:rPr lang="de-AT" sz="2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https://tailscale.com/</a:t>
            </a:r>
            <a:endParaRPr lang="de-AT" sz="2200" dirty="0"/>
          </a:p>
          <a:p>
            <a:pPr lvl="1"/>
            <a:r>
              <a:rPr lang="de-AT" sz="22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https://www.snort.org/documents#OfficialDocumentation</a:t>
            </a:r>
            <a:endParaRPr lang="de-AT" sz="2200" dirty="0"/>
          </a:p>
          <a:p>
            <a:pPr lvl="1"/>
            <a:r>
              <a:rPr lang="de-AT" sz="22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https://docs.securityonion.net/en/2.4/</a:t>
            </a:r>
            <a:endParaRPr lang="de-AT" sz="2200" dirty="0"/>
          </a:p>
          <a:p>
            <a:pPr lvl="1"/>
            <a:r>
              <a:rPr lang="de-AT" sz="22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https://www.proxmox.com/de/</a:t>
            </a:r>
            <a:endParaRPr lang="de-AT" sz="2200" dirty="0"/>
          </a:p>
          <a:p>
            <a:pPr lvl="1"/>
            <a:r>
              <a:rPr lang="de-AT" sz="22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https://www.youtube.com/watch?v=EWJM3tERMXs</a:t>
            </a:r>
            <a:r>
              <a:rPr lang="de-AT" sz="2200" dirty="0"/>
              <a:t> - </a:t>
            </a:r>
            <a:r>
              <a:rPr lang="de-DE" sz="2200" b="1" dirty="0" err="1"/>
              <a:t>Comprehensive</a:t>
            </a:r>
            <a:r>
              <a:rPr lang="de-DE" sz="2200" b="1" dirty="0"/>
              <a:t> Guide </a:t>
            </a:r>
            <a:r>
              <a:rPr lang="de-DE" sz="2200" b="1" dirty="0" err="1"/>
              <a:t>to</a:t>
            </a:r>
            <a:r>
              <a:rPr lang="de-DE" sz="2200" b="1" dirty="0"/>
              <a:t> Evil-</a:t>
            </a:r>
            <a:r>
              <a:rPr lang="de-DE" sz="2200" b="1" dirty="0" err="1"/>
              <a:t>WinRM</a:t>
            </a:r>
            <a:endParaRPr lang="de-AT" sz="2200" dirty="0"/>
          </a:p>
          <a:p>
            <a:pPr lvl="1"/>
            <a:r>
              <a:rPr lang="de-AT" sz="22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https://www.youtube.com/watch?v=K7y_-JtpZ7I</a:t>
            </a:r>
            <a:r>
              <a:rPr lang="de-AT" sz="2200" dirty="0"/>
              <a:t> -</a:t>
            </a:r>
            <a:r>
              <a:rPr lang="de-DE" sz="2200" b="1" dirty="0"/>
              <a:t> Metasploit </a:t>
            </a:r>
            <a:r>
              <a:rPr lang="de-DE" sz="2200" b="1" dirty="0" err="1"/>
              <a:t>For</a:t>
            </a:r>
            <a:r>
              <a:rPr lang="de-DE" sz="2200" b="1" dirty="0"/>
              <a:t> Beginners</a:t>
            </a:r>
            <a:endParaRPr lang="de-AT" sz="2200" dirty="0"/>
          </a:p>
          <a:p>
            <a:pPr lvl="1"/>
            <a:r>
              <a:rPr lang="de-AT" sz="2200" dirty="0"/>
              <a:t>https://www.kali.org/tools</a:t>
            </a:r>
          </a:p>
          <a:p>
            <a:pPr lvl="1"/>
            <a:endParaRPr lang="de-AT" sz="22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AFEA43-FBDA-8968-2225-D0226BEE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4F9D4E-3C17-F5C9-605C-FE1673A2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9123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71540-1D7A-F789-8EEA-02E5AD275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0E9A5D-F9C7-9596-A268-3BBEE4356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BEF806-85D6-BDA8-B93B-909C9ED0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569BF6-9ACC-AC52-7A0C-4A7CA614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24426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B6B2E-F40F-FFB8-F101-07060F5D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>
            <a:extLst>
              <a:ext uri="{FF2B5EF4-FFF2-40B4-BE49-F238E27FC236}">
                <a16:creationId xmlns:a16="http://schemas.microsoft.com/office/drawing/2014/main" id="{86CBB10A-5A37-947E-D445-26493C398328}"/>
              </a:ext>
            </a:extLst>
          </p:cNvPr>
          <p:cNvSpPr txBox="1">
            <a:spLocks noChangeArrowheads="1"/>
          </p:cNvSpPr>
          <p:nvPr/>
        </p:nvSpPr>
        <p:spPr>
          <a:xfrm>
            <a:off x="3100532" y="2949109"/>
            <a:ext cx="6673178" cy="1459726"/>
          </a:xfrm>
          <a:prstGeom prst="rect">
            <a:avLst/>
          </a:prstGeom>
        </p:spPr>
        <p:txBody>
          <a:bodyPr/>
          <a:lstStyle/>
          <a:p>
            <a:r>
              <a:rPr lang="de-DE" sz="3200" b="1" dirty="0">
                <a:solidFill>
                  <a:srgbClr val="9BBB59"/>
                </a:solidFill>
              </a:rPr>
              <a:t>Virtuelle </a:t>
            </a:r>
            <a:r>
              <a:rPr lang="de-DE" sz="3200" b="1" dirty="0" err="1">
                <a:solidFill>
                  <a:srgbClr val="9BBB59"/>
                </a:solidFill>
              </a:rPr>
              <a:t>Cybersecurity</a:t>
            </a:r>
            <a:r>
              <a:rPr lang="de-DE" sz="3200" b="1" dirty="0">
                <a:solidFill>
                  <a:srgbClr val="9BBB59"/>
                </a:solidFill>
              </a:rPr>
              <a:t>-Testumgebung mit IDS </a:t>
            </a: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922C350B-547B-117C-0168-0196C7E63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121" y="4209170"/>
            <a:ext cx="22265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54000">
            <a:spAutoFit/>
          </a:bodyPr>
          <a:lstStyle/>
          <a:p>
            <a:r>
              <a:rPr lang="nl-NL" sz="2000" dirty="0"/>
              <a:t>Tobias Eichelberger</a:t>
            </a:r>
          </a:p>
          <a:p>
            <a:r>
              <a:rPr lang="nl-NL" sz="2000" dirty="0"/>
              <a:t>Lukas </a:t>
            </a:r>
            <a:r>
              <a:rPr lang="nl-NL" sz="2000" dirty="0" err="1"/>
              <a:t>Macuha</a:t>
            </a:r>
            <a:endParaRPr lang="nl-NL" sz="2000" dirty="0"/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D3CD92B3-CBCF-8821-7A93-D770F0BAE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054" y="4943680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25.06.2025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E78589BD-DC6C-DF58-48E7-68AB7247C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750" y="5286388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DI Dr.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2738EB9A-B990-179B-C7FF-BCD7C5AE2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60839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40838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AT" dirty="0"/>
              <a:t>Partner/Aufgabenstellung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72719" y="1031791"/>
            <a:ext cx="7525253" cy="51048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AT" sz="2600" dirty="0"/>
              <a:t>Partner: HTL Leoben</a:t>
            </a:r>
          </a:p>
          <a:p>
            <a:pPr marL="0" indent="0">
              <a:lnSpc>
                <a:spcPct val="90000"/>
              </a:lnSpc>
              <a:buNone/>
            </a:pPr>
            <a:endParaRPr lang="de-AT" sz="2400" dirty="0"/>
          </a:p>
          <a:p>
            <a:pPr>
              <a:lnSpc>
                <a:spcPct val="90000"/>
              </a:lnSpc>
            </a:pPr>
            <a:r>
              <a:rPr lang="de-AT" sz="2600" dirty="0"/>
              <a:t>Aufgabenstellung</a:t>
            </a:r>
            <a:endParaRPr lang="de-DE" sz="2600" dirty="0"/>
          </a:p>
          <a:p>
            <a:pPr lvl="1">
              <a:lnSpc>
                <a:spcPct val="90000"/>
              </a:lnSpc>
            </a:pPr>
            <a:r>
              <a:rPr lang="de-DE" dirty="0"/>
              <a:t>Eichelbeger: Blue Team</a:t>
            </a:r>
          </a:p>
          <a:p>
            <a:pPr lvl="2">
              <a:lnSpc>
                <a:spcPct val="90000"/>
              </a:lnSpc>
            </a:pPr>
            <a:r>
              <a:rPr lang="de-DE" sz="2400" dirty="0"/>
              <a:t>Entwicklung einer sicheren, virtuellen Netzwerkumgebung, auf einem Server der HTL, die durch ein IDS überwacht wird</a:t>
            </a:r>
          </a:p>
          <a:p>
            <a:pPr lvl="2">
              <a:lnSpc>
                <a:spcPct val="90000"/>
              </a:lnSpc>
            </a:pPr>
            <a:endParaRPr lang="de-DE" sz="2400" dirty="0"/>
          </a:p>
          <a:p>
            <a:pPr lvl="1">
              <a:lnSpc>
                <a:spcPct val="90000"/>
              </a:lnSpc>
            </a:pPr>
            <a:r>
              <a:rPr lang="de-DE" dirty="0" err="1"/>
              <a:t>Macuha</a:t>
            </a:r>
            <a:r>
              <a:rPr lang="de-DE" dirty="0"/>
              <a:t>: </a:t>
            </a:r>
            <a:r>
              <a:rPr lang="de-DE" dirty="0" err="1"/>
              <a:t>Red</a:t>
            </a:r>
            <a:r>
              <a:rPr lang="de-DE" dirty="0"/>
              <a:t> Team</a:t>
            </a:r>
          </a:p>
          <a:p>
            <a:pPr lvl="2">
              <a:lnSpc>
                <a:spcPct val="90000"/>
              </a:lnSpc>
            </a:pPr>
            <a:r>
              <a:rPr lang="de-DE" sz="2400" dirty="0"/>
              <a:t>Durchführung von Netzwerkscans und Angriffssimulationen mithilfe von Tools wie </a:t>
            </a:r>
            <a:r>
              <a:rPr lang="de-DE" sz="2400" dirty="0" err="1"/>
              <a:t>Nmap</a:t>
            </a:r>
            <a:r>
              <a:rPr lang="de-DE" sz="2400" dirty="0"/>
              <a:t>, </a:t>
            </a:r>
            <a:r>
              <a:rPr lang="de-DE" sz="2400" dirty="0" err="1"/>
              <a:t>Mimikatz</a:t>
            </a:r>
            <a:r>
              <a:rPr lang="de-DE" sz="2400" dirty="0"/>
              <a:t> und Metasploit zur Generierung von IDS-Ereignissen</a:t>
            </a:r>
          </a:p>
        </p:txBody>
      </p:sp>
      <p:pic>
        <p:nvPicPr>
          <p:cNvPr id="8" name="Grafik 7" descr="Ein Bild, das Text, Screenshot, Display, Design enthält.&#10;&#10;KI-generierte Inhalte können fehlerhaft sein.">
            <a:extLst>
              <a:ext uri="{FF2B5EF4-FFF2-40B4-BE49-F238E27FC236}">
                <a16:creationId xmlns:a16="http://schemas.microsoft.com/office/drawing/2014/main" id="{047880BD-C219-E789-E715-F6F0B444F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5" r="12421"/>
          <a:stretch>
            <a:fillRect/>
          </a:stretch>
        </p:blipFill>
        <p:spPr>
          <a:xfrm>
            <a:off x="7772400" y="1005264"/>
            <a:ext cx="3810000" cy="5157902"/>
          </a:xfrm>
          <a:prstGeom prst="rect">
            <a:avLst/>
          </a:prstGeom>
          <a:noFill/>
        </p:spPr>
      </p:pic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CD6803-3BAA-44F6-A698-23D950C9713B}" type="slidenum">
              <a:rPr lang="de-AT" smtClean="0"/>
              <a:pPr>
                <a:spcAft>
                  <a:spcPts val="600"/>
                </a:spcAft>
              </a:pPr>
              <a:t>12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DAF0-A5C6-C1BA-77E0-006F87B8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45185-67B2-8D84-AB4E-4315A3FA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 und SDG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F6DE72-14AF-10DA-61D0-7BAB5F6E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B55603-CF8D-A47B-A913-ED1FC2301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600" dirty="0"/>
              <a:t>Ziel ist es eine virtuelle Umgebung mit 1 Clients und 1 Domaincontroller zu gestalten die durch ein IDS-System gesichert wird und 5 Angriffe von einem Client erkennt bis 31.01.2026</a:t>
            </a:r>
          </a:p>
          <a:p>
            <a:endParaRPr lang="de-AT" dirty="0"/>
          </a:p>
          <a:p>
            <a:r>
              <a:rPr lang="de-AT" sz="2600" dirty="0"/>
              <a:t>SDG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A7907D-8937-2003-2E39-1274A165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13</a:t>
            </a:fld>
            <a:endParaRPr lang="de-AT"/>
          </a:p>
        </p:txBody>
      </p:sp>
      <p:pic>
        <p:nvPicPr>
          <p:cNvPr id="6" name="Inhaltsplatzhalter 6">
            <a:extLst>
              <a:ext uri="{FF2B5EF4-FFF2-40B4-BE49-F238E27FC236}">
                <a16:creationId xmlns:a16="http://schemas.microsoft.com/office/drawing/2014/main" id="{1EEDD22D-15C7-41BC-9DC0-E67418F3E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7"/>
          <a:stretch>
            <a:fillRect/>
          </a:stretch>
        </p:blipFill>
        <p:spPr>
          <a:xfrm>
            <a:off x="989441" y="3256279"/>
            <a:ext cx="2169354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56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Milestones</a:t>
            </a:r>
          </a:p>
          <a:p>
            <a:pPr lvl="1"/>
            <a:r>
              <a:rPr lang="de-DE" dirty="0"/>
              <a:t>18.05.2025 – </a:t>
            </a:r>
            <a:r>
              <a:rPr lang="de-DE" dirty="0" err="1"/>
              <a:t>Proxmox</a:t>
            </a:r>
            <a:r>
              <a:rPr lang="de-DE" dirty="0"/>
              <a:t>-Server eingerichtet</a:t>
            </a:r>
          </a:p>
          <a:p>
            <a:pPr lvl="1"/>
            <a:r>
              <a:rPr lang="de-DE" dirty="0"/>
              <a:t>06.07.2025 – VPN-Verbindung erfolgreich eingerichtet</a:t>
            </a:r>
          </a:p>
          <a:p>
            <a:pPr lvl="1"/>
            <a:r>
              <a:rPr lang="de-DE" dirty="0"/>
              <a:t>26.07.2025 – GNS3 installiert</a:t>
            </a:r>
          </a:p>
          <a:p>
            <a:pPr lvl="1"/>
            <a:r>
              <a:rPr lang="de-DE" dirty="0"/>
              <a:t>17.08.2025 – Client und Domaincontroller eingerichtet</a:t>
            </a:r>
          </a:p>
          <a:p>
            <a:pPr lvl="1"/>
            <a:r>
              <a:rPr lang="de-DE" dirty="0"/>
              <a:t>28.08.2025 – Netzwerkscan mit </a:t>
            </a:r>
            <a:r>
              <a:rPr lang="de-DE" dirty="0" err="1"/>
              <a:t>Nmap</a:t>
            </a:r>
            <a:r>
              <a:rPr lang="de-DE" dirty="0"/>
              <a:t> und </a:t>
            </a:r>
            <a:r>
              <a:rPr lang="de-DE" dirty="0" err="1"/>
              <a:t>Netdiscover</a:t>
            </a:r>
            <a:r>
              <a:rPr lang="de-DE" dirty="0"/>
              <a:t> durchgeführt</a:t>
            </a:r>
          </a:p>
          <a:p>
            <a:pPr lvl="1"/>
            <a:r>
              <a:rPr lang="de-DE" dirty="0"/>
              <a:t>31.08.2025 – Drei IDS-Systeme miteinander verglichen</a:t>
            </a:r>
          </a:p>
          <a:p>
            <a:pPr lvl="1"/>
            <a:r>
              <a:rPr lang="de-DE" dirty="0"/>
              <a:t>07.09.2025 – Ausgewähltes IDS-System implementiert</a:t>
            </a:r>
          </a:p>
          <a:p>
            <a:pPr lvl="1"/>
            <a:r>
              <a:rPr lang="de-DE" dirty="0"/>
              <a:t>13.09.2025 – Erste Simulation mit </a:t>
            </a:r>
            <a:r>
              <a:rPr lang="de-DE" dirty="0" err="1"/>
              <a:t>Mimikatz</a:t>
            </a:r>
            <a:r>
              <a:rPr lang="de-DE" dirty="0"/>
              <a:t> und Metasploit durchgeführt</a:t>
            </a:r>
          </a:p>
          <a:p>
            <a:pPr lvl="1"/>
            <a:r>
              <a:rPr lang="de-DE" dirty="0"/>
              <a:t>15.09.2025 – Reaktion des IDS überprüft</a:t>
            </a:r>
          </a:p>
          <a:p>
            <a:pPr lvl="1"/>
            <a:r>
              <a:rPr lang="de-AT" dirty="0"/>
              <a:t>31.01.2026 </a:t>
            </a:r>
            <a:r>
              <a:rPr lang="de-DE" dirty="0"/>
              <a:t>– Dokumentation abgeschlossen</a:t>
            </a:r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25704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EB63-2D37-4153-86A6-53385D51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224496-3E36-E131-5A0B-08DECBC5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26E328-CC8D-3AD6-AA06-C00B5B16D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Kostenabschätzung und Bedeckung</a:t>
            </a:r>
          </a:p>
          <a:p>
            <a:pPr lvl="1"/>
            <a:r>
              <a:rPr lang="de-AT" dirty="0"/>
              <a:t>Lüfter Server 13,80€</a:t>
            </a:r>
          </a:p>
          <a:p>
            <a:pPr lvl="1"/>
            <a:r>
              <a:rPr lang="de-AT" dirty="0"/>
              <a:t>Buchdruck 50€</a:t>
            </a:r>
          </a:p>
          <a:p>
            <a:pPr lvl="1"/>
            <a:endParaRPr lang="de-AT" dirty="0"/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73159A-5932-8292-B71B-AF9A997C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E2EE97-97B8-C818-6074-D1856C83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7498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 dato durchgesehen:</a:t>
            </a:r>
            <a:endParaRPr lang="de-AT" dirty="0"/>
          </a:p>
          <a:p>
            <a:pPr lvl="1"/>
            <a:r>
              <a:rPr lang="de-AT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https://www.paloaltonetworks.de/cyberpedia/what-is-an-intrusion-detection-system-ids</a:t>
            </a:r>
            <a:endParaRPr lang="de-AT" dirty="0"/>
          </a:p>
          <a:p>
            <a:pPr lvl="1"/>
            <a:r>
              <a:rPr lang="de-AT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https://wazuh.com/platform/overview/</a:t>
            </a:r>
            <a:endParaRPr lang="de-AT" dirty="0"/>
          </a:p>
          <a:p>
            <a:pPr lvl="1"/>
            <a:r>
              <a:rPr lang="de-AT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https://www.wireguard.com/</a:t>
            </a:r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09AE3-FA1D-40C8-A6CE-A2D9F55131C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</Words>
  <Application>Microsoft Office PowerPoint</Application>
  <PresentationFormat>Breitbild</PresentationFormat>
  <Paragraphs>148</Paragraphs>
  <Slides>16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Adobe Gothic Std B</vt:lpstr>
      <vt:lpstr>Arial</vt:lpstr>
      <vt:lpstr>Calibri</vt:lpstr>
      <vt:lpstr>Wingdings</vt:lpstr>
      <vt:lpstr>Larissa</vt:lpstr>
      <vt:lpstr>PowerPoint-Präsentation</vt:lpstr>
      <vt:lpstr>PM</vt:lpstr>
      <vt:lpstr>PM</vt:lpstr>
      <vt:lpstr>PM</vt:lpstr>
      <vt:lpstr>Aktueller Stand – Eichelberger </vt:lpstr>
      <vt:lpstr>Aktueller Stand – Macuha </vt:lpstr>
      <vt:lpstr>Probleme &amp; Lösungen – Eichelberger </vt:lpstr>
      <vt:lpstr>Probleme &amp; Lösungen – Macuha</vt:lpstr>
      <vt:lpstr>Literatur</vt:lpstr>
      <vt:lpstr>PowerPoint-Präsentation</vt:lpstr>
      <vt:lpstr>PowerPoint-Präsentation</vt:lpstr>
      <vt:lpstr>Partner/Aufgabenstellung</vt:lpstr>
      <vt:lpstr>Ziele und SDG</vt:lpstr>
      <vt:lpstr>PM</vt:lpstr>
      <vt:lpstr>PM</vt:lpstr>
      <vt:lpstr>Literatur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Eichelberger Tobias</cp:lastModifiedBy>
  <cp:revision>312</cp:revision>
  <cp:lastPrinted>2020-04-02T17:36:48Z</cp:lastPrinted>
  <dcterms:created xsi:type="dcterms:W3CDTF">2012-09-14T17:11:23Z</dcterms:created>
  <dcterms:modified xsi:type="dcterms:W3CDTF">2025-11-12T09:17:53Z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