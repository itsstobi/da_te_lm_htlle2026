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"/>
  </p:notesMasterIdLst>
  <p:handoutMasterIdLst>
    <p:handoutMasterId r:id="rId7"/>
  </p:handoutMasterIdLst>
  <p:sldIdLst>
    <p:sldId id="259" r:id="rId5"/>
  </p:sldIdLst>
  <p:sldSz cx="30275213" cy="42803763"/>
  <p:notesSz cx="6858000" cy="9144000"/>
  <p:defaultTextStyle>
    <a:defPPr>
      <a:defRPr lang="en-US"/>
    </a:defPPr>
    <a:lvl1pPr marL="0" algn="l" defTabSz="457016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1pPr>
    <a:lvl2pPr marL="457016" algn="l" defTabSz="457016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2pPr>
    <a:lvl3pPr marL="914032" algn="l" defTabSz="457016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3pPr>
    <a:lvl4pPr marL="1371054" algn="l" defTabSz="457016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4pPr>
    <a:lvl5pPr marL="1828070" algn="l" defTabSz="457016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5pPr>
    <a:lvl6pPr marL="2285086" algn="l" defTabSz="457016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6pPr>
    <a:lvl7pPr marL="2742102" algn="l" defTabSz="457016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7pPr>
    <a:lvl8pPr marL="3199118" algn="l" defTabSz="457016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8pPr>
    <a:lvl9pPr marL="3656139" algn="l" defTabSz="457016" rtl="0" eaLnBrk="1" latinLnBrk="0" hangingPunct="1">
      <a:defRPr sz="1798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2" userDrawn="1">
          <p15:clr>
            <a:srgbClr val="A4A3A4"/>
          </p15:clr>
        </p15:guide>
        <p15:guide id="2" pos="953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89898"/>
    <a:srgbClr val="096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20" autoAdjust="0"/>
    <p:restoredTop sz="94660"/>
  </p:normalViewPr>
  <p:slideViewPr>
    <p:cSldViewPr snapToGrid="0">
      <p:cViewPr>
        <p:scale>
          <a:sx n="25" d="100"/>
          <a:sy n="25" d="100"/>
        </p:scale>
        <p:origin x="1426" y="-264"/>
      </p:cViewPr>
      <p:guideLst>
        <p:guide orient="horz" pos="13482"/>
        <p:guide pos="953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6860D6F-7C7F-4A87-95B5-310BB48E55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0E34C3C-BB88-4490-8CE5-BEA38FC8F4F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747906-58F8-41D5-91B4-3B180173CB0D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7C80E89-9A27-4820-B8EA-011B64690D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C970821-FD7C-4F4B-9E75-E8AD3ADF177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754FB7-C9EE-4F62-858D-52A86BC716B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02609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145E3C-60A8-4CC3-BBE9-1D0B1ECC86AD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F7D231-F223-4FAC-A174-623756215B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2954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506328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164" algn="l" defTabSz="3506328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6328" algn="l" defTabSz="3506328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59492" algn="l" defTabSz="3506328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2656" algn="l" defTabSz="3506328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5820" algn="l" defTabSz="3506328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18978" algn="l" defTabSz="3506328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2142" algn="l" defTabSz="3506328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25306" algn="l" defTabSz="3506328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FE4430B5-36E2-44F2-B0BC-CC169F0651ED}"/>
              </a:ext>
            </a:extLst>
          </p:cNvPr>
          <p:cNvGrpSpPr/>
          <p:nvPr userDrawn="1"/>
        </p:nvGrpSpPr>
        <p:grpSpPr>
          <a:xfrm>
            <a:off x="15137606" y="17947481"/>
            <a:ext cx="14439782" cy="9120189"/>
            <a:chOff x="14897038" y="17947480"/>
            <a:chExt cx="14920913" cy="9120189"/>
          </a:xfrm>
        </p:grpSpPr>
        <p:sp>
          <p:nvSpPr>
            <p:cNvPr id="39" name="Rechteck: diagonal liegende Ecken abgerundet 38">
              <a:extLst>
                <a:ext uri="{FF2B5EF4-FFF2-40B4-BE49-F238E27FC236}">
                  <a16:creationId xmlns:a16="http://schemas.microsoft.com/office/drawing/2014/main" id="{47C0ED72-00B0-4405-984B-073FE9D7DDC8}"/>
                </a:ext>
              </a:extLst>
            </p:cNvPr>
            <p:cNvSpPr/>
            <p:nvPr/>
          </p:nvSpPr>
          <p:spPr>
            <a:xfrm>
              <a:off x="15137606" y="18190516"/>
              <a:ext cx="14439778" cy="8633157"/>
            </a:xfrm>
            <a:prstGeom prst="round2DiagRect">
              <a:avLst/>
            </a:prstGeom>
            <a:noFill/>
            <a:ln w="762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 altLang="de-DE" sz="4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Rechteck: diagonal liegende Ecken abgerundet 39">
              <a:extLst>
                <a:ext uri="{FF2B5EF4-FFF2-40B4-BE49-F238E27FC236}">
                  <a16:creationId xmlns:a16="http://schemas.microsoft.com/office/drawing/2014/main" id="{EEF2D359-5A7A-425E-B80C-7AA30C3DC1AB}"/>
                </a:ext>
              </a:extLst>
            </p:cNvPr>
            <p:cNvSpPr/>
            <p:nvPr/>
          </p:nvSpPr>
          <p:spPr>
            <a:xfrm>
              <a:off x="14897038" y="17947480"/>
              <a:ext cx="14920913" cy="9120189"/>
            </a:xfrm>
            <a:prstGeom prst="round2DiagRect">
              <a:avLst/>
            </a:prstGeom>
            <a:noFill/>
            <a:ln w="762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 altLang="de-DE" sz="4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305D8462-48ED-46CE-9672-F380F45730DF}"/>
              </a:ext>
            </a:extLst>
          </p:cNvPr>
          <p:cNvGrpSpPr/>
          <p:nvPr userDrawn="1"/>
        </p:nvGrpSpPr>
        <p:grpSpPr>
          <a:xfrm>
            <a:off x="697822" y="28703682"/>
            <a:ext cx="14686989" cy="9120189"/>
            <a:chOff x="697824" y="28704643"/>
            <a:chExt cx="14920913" cy="9120189"/>
          </a:xfrm>
        </p:grpSpPr>
        <p:sp>
          <p:nvSpPr>
            <p:cNvPr id="42" name="Rechteck: diagonal liegende Ecken abgerundet 41">
              <a:extLst>
                <a:ext uri="{FF2B5EF4-FFF2-40B4-BE49-F238E27FC236}">
                  <a16:creationId xmlns:a16="http://schemas.microsoft.com/office/drawing/2014/main" id="{C86B5DC6-7899-4AF7-8E36-6C8E5BABBE31}"/>
                </a:ext>
              </a:extLst>
            </p:cNvPr>
            <p:cNvSpPr/>
            <p:nvPr/>
          </p:nvSpPr>
          <p:spPr>
            <a:xfrm>
              <a:off x="938392" y="28947679"/>
              <a:ext cx="14439778" cy="8633157"/>
            </a:xfrm>
            <a:prstGeom prst="round2DiagRect">
              <a:avLst/>
            </a:prstGeom>
            <a:noFill/>
            <a:ln w="762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 altLang="de-DE" sz="4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Rechteck: diagonal liegende Ecken abgerundet 42">
              <a:extLst>
                <a:ext uri="{FF2B5EF4-FFF2-40B4-BE49-F238E27FC236}">
                  <a16:creationId xmlns:a16="http://schemas.microsoft.com/office/drawing/2014/main" id="{D12327B6-5AFA-439B-AD81-10331EA1B08A}"/>
                </a:ext>
              </a:extLst>
            </p:cNvPr>
            <p:cNvSpPr/>
            <p:nvPr/>
          </p:nvSpPr>
          <p:spPr>
            <a:xfrm>
              <a:off x="697824" y="28704643"/>
              <a:ext cx="14920913" cy="9120189"/>
            </a:xfrm>
            <a:prstGeom prst="round2DiagRect">
              <a:avLst/>
            </a:prstGeom>
            <a:noFill/>
            <a:ln w="762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 altLang="de-DE" sz="4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7" name="Bildplatzhalter 46">
            <a:extLst>
              <a:ext uri="{FF2B5EF4-FFF2-40B4-BE49-F238E27FC236}">
                <a16:creationId xmlns:a16="http://schemas.microsoft.com/office/drawing/2014/main" id="{41F88678-A717-4F7C-9246-40C3FE5B8D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34515" y="17945896"/>
            <a:ext cx="13114338" cy="9121774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0" name="Bildplatzhalter 46">
            <a:extLst>
              <a:ext uri="{FF2B5EF4-FFF2-40B4-BE49-F238E27FC236}">
                <a16:creationId xmlns:a16="http://schemas.microsoft.com/office/drawing/2014/main" id="{C6A43DC5-3A6C-40F7-A068-4F1BDB0BFEA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6226255" y="28703685"/>
            <a:ext cx="13114338" cy="9121774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2" name="Inhaltsplatzhalter 51">
            <a:extLst>
              <a:ext uri="{FF2B5EF4-FFF2-40B4-BE49-F238E27FC236}">
                <a16:creationId xmlns:a16="http://schemas.microsoft.com/office/drawing/2014/main" id="{21F25EF4-3D47-4035-89A4-1059F42D668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35038" y="10296941"/>
            <a:ext cx="28641676" cy="6588362"/>
          </a:xfrm>
          <a:prstGeom prst="rect">
            <a:avLst/>
          </a:prstGeom>
        </p:spPr>
        <p:txBody>
          <a:bodyPr/>
          <a:lstStyle>
            <a:lvl1pPr marL="0" marR="0" indent="0" algn="just" defTabSz="3027353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de-DE" sz="5999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defRPr>
            </a:lvl1pPr>
            <a:lvl2pPr marL="1513676" indent="0">
              <a:buNone/>
              <a:defRPr/>
            </a:lvl2pPr>
            <a:lvl3pPr marL="3027353" indent="0">
              <a:buNone/>
              <a:defRPr/>
            </a:lvl3pPr>
            <a:lvl4pPr marL="4541028" indent="0">
              <a:buNone/>
              <a:defRPr/>
            </a:lvl4pPr>
            <a:lvl5pPr marL="6054706" indent="0">
              <a:buNone/>
              <a:defRPr/>
            </a:lvl5pPr>
          </a:lstStyle>
          <a:p>
            <a:pPr algn="ctr" eaLnBrk="1" hangingPunct="1"/>
            <a:r>
              <a:rPr lang="de-AT" altLang="de-DE" sz="5999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Aufgabenstellung/Ziele dieser Untersuchungen………. [4-5 Zeilen]</a:t>
            </a:r>
          </a:p>
          <a:p>
            <a:pPr marL="0" marR="0" lvl="0" indent="0" algn="ctr" defTabSz="3027353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AT" altLang="de-DE" sz="5999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Aufgabenstellung/Ziele dieser Untersuchungen………. [4-5 Zeilen]</a:t>
            </a:r>
          </a:p>
          <a:p>
            <a:pPr marL="0" marR="0" lvl="0" indent="0" algn="ctr" defTabSz="3027353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AT" altLang="de-DE" sz="5999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Aufgabenstellung/Ziele dieser Untersuchungen………. [4-5 Zeilen]</a:t>
            </a:r>
          </a:p>
          <a:p>
            <a:pPr marL="0" marR="0" lvl="0" indent="0" algn="ctr" defTabSz="3027353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AT" altLang="de-DE" sz="5999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Aufgabenstellung/Ziele dieser Untersuchungen………. [4-5 Zeilen]</a:t>
            </a:r>
          </a:p>
          <a:p>
            <a:pPr marL="0" marR="0" lvl="0" indent="0" algn="ctr" defTabSz="3027353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AT" altLang="de-DE" sz="5999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Aufgabenstellung/Ziele dieser Untersuchungen………. [4-5 Zeilen]</a:t>
            </a:r>
          </a:p>
          <a:p>
            <a:pPr marL="0" marR="0" lvl="0" indent="0" algn="ctr" defTabSz="3027353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de-AT" altLang="de-DE" sz="5999" b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ctr" eaLnBrk="1" hangingPunct="1"/>
            <a:endParaRPr lang="de-AT" altLang="de-DE" sz="5999" b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lvl="0"/>
            <a:endParaRPr lang="de-DE" dirty="0"/>
          </a:p>
        </p:txBody>
      </p:sp>
      <p:sp>
        <p:nvSpPr>
          <p:cNvPr id="57" name="Textplatzhalter 55">
            <a:extLst>
              <a:ext uri="{FF2B5EF4-FFF2-40B4-BE49-F238E27FC236}">
                <a16:creationId xmlns:a16="http://schemas.microsoft.com/office/drawing/2014/main" id="{C72D7631-B425-426A-903C-C4D5E7B1F39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82851" y="29290557"/>
            <a:ext cx="11916944" cy="7945485"/>
          </a:xfrm>
          <a:prstGeom prst="rect">
            <a:avLst/>
          </a:prstGeom>
        </p:spPr>
        <p:txBody>
          <a:bodyPr anchor="ctr" anchorCtr="0"/>
          <a:lstStyle>
            <a:lvl1pPr marL="0" indent="0" algn="just">
              <a:buNone/>
              <a:defRPr sz="4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Ergebnisse des praktischen Teils</a:t>
            </a:r>
          </a:p>
          <a:p>
            <a:pPr lvl="0"/>
            <a:endParaRPr lang="de-DE" dirty="0"/>
          </a:p>
        </p:txBody>
      </p:sp>
      <p:sp>
        <p:nvSpPr>
          <p:cNvPr id="59" name="Inhaltsplatzhalter 58">
            <a:extLst>
              <a:ext uri="{FF2B5EF4-FFF2-40B4-BE49-F238E27FC236}">
                <a16:creationId xmlns:a16="http://schemas.microsoft.com/office/drawing/2014/main" id="{9A5A942F-9876-4CD0-8ED7-0E52ACC04B7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3360404" y="8811949"/>
            <a:ext cx="16216313" cy="94952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lang="de-DE" sz="5000" kern="1200" dirty="0" smtClean="0">
                <a:solidFill>
                  <a:schemeClr val="bg1"/>
                </a:solidFill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Vorname Nachname, Vorname Nachname</a:t>
            </a:r>
          </a:p>
        </p:txBody>
      </p:sp>
      <p:sp>
        <p:nvSpPr>
          <p:cNvPr id="60" name="Textplatzhalter 55">
            <a:extLst>
              <a:ext uri="{FF2B5EF4-FFF2-40B4-BE49-F238E27FC236}">
                <a16:creationId xmlns:a16="http://schemas.microsoft.com/office/drawing/2014/main" id="{AF272AA7-19EB-421C-A0D1-F8A5285DCBE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278744" y="18521319"/>
            <a:ext cx="11916944" cy="7945485"/>
          </a:xfrm>
          <a:prstGeom prst="rect">
            <a:avLst/>
          </a:prstGeom>
        </p:spPr>
        <p:txBody>
          <a:bodyPr anchor="ctr" anchorCtr="0"/>
          <a:lstStyle>
            <a:lvl1pPr marL="0" indent="0" algn="just">
              <a:buNone/>
              <a:defRPr sz="4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Ergebnisse des theoretischen Teils</a:t>
            </a:r>
          </a:p>
        </p:txBody>
      </p:sp>
      <p:sp>
        <p:nvSpPr>
          <p:cNvPr id="64" name="Inhaltsplatzhalter 58">
            <a:extLst>
              <a:ext uri="{FF2B5EF4-FFF2-40B4-BE49-F238E27FC236}">
                <a16:creationId xmlns:a16="http://schemas.microsoft.com/office/drawing/2014/main" id="{3AE8EB11-64EE-4AF2-BBE3-9141CAD70C3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0" y="3759206"/>
            <a:ext cx="30275213" cy="4941686"/>
          </a:xfrm>
          <a:prstGeom prst="rect">
            <a:avLst/>
          </a:prstGeom>
        </p:spPr>
        <p:txBody>
          <a:bodyPr anchor="ctr" anchorCtr="1"/>
          <a:lstStyle>
            <a:lvl1pPr marL="0" marR="0" indent="0" algn="ctr" defTabSz="3027353" rtl="0" eaLnBrk="1" fontAlgn="auto" latinLnBrk="0" hangingPunct="1">
              <a:lnSpc>
                <a:spcPct val="90000"/>
              </a:lnSpc>
              <a:spcBef>
                <a:spcPts val="3311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de-DE" sz="14499" b="0" kern="1200" dirty="0" smtClean="0">
                <a:solidFill>
                  <a:schemeClr val="bg1"/>
                </a:solidFill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Titel der Diplomarbeit</a:t>
            </a:r>
          </a:p>
        </p:txBody>
      </p:sp>
    </p:spTree>
    <p:extLst>
      <p:ext uri="{BB962C8B-B14F-4D97-AF65-F5344CB8AC3E}">
        <p14:creationId xmlns:p14="http://schemas.microsoft.com/office/powerpoint/2010/main" val="3256190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Screenshot, Licht, Kunst enthält.&#10;&#10;KI-generierte Inhalte können fehlerhaft sein.">
            <a:extLst>
              <a:ext uri="{FF2B5EF4-FFF2-40B4-BE49-F238E27FC236}">
                <a16:creationId xmlns:a16="http://schemas.microsoft.com/office/drawing/2014/main" id="{E0F9787C-1A2E-4283-A459-25365256638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97" t="26975" r="56824" b="48008"/>
          <a:stretch/>
        </p:blipFill>
        <p:spPr>
          <a:xfrm>
            <a:off x="10406" y="32918405"/>
            <a:ext cx="30264807" cy="988536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8C299C8-84B4-4574-8DA7-AF391AF7B95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97831" y="966902"/>
            <a:ext cx="10408322" cy="147144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740EFB26-E1CD-485E-9F6F-32A3699158A8}"/>
              </a:ext>
            </a:extLst>
          </p:cNvPr>
          <p:cNvSpPr txBox="1"/>
          <p:nvPr userDrawn="1"/>
        </p:nvSpPr>
        <p:spPr>
          <a:xfrm>
            <a:off x="17601386" y="8660925"/>
            <a:ext cx="1197599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50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Vorname Nachname, Vorname Nachname</a:t>
            </a:r>
            <a:endParaRPr lang="de-DE" sz="50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871173B-247D-4A78-AE3C-2D3C7D726690}"/>
              </a:ext>
            </a:extLst>
          </p:cNvPr>
          <p:cNvSpPr txBox="1"/>
          <p:nvPr userDrawn="1"/>
        </p:nvSpPr>
        <p:spPr>
          <a:xfrm>
            <a:off x="12563507" y="40601727"/>
            <a:ext cx="65372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b="1" dirty="0"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www.</a:t>
            </a:r>
            <a:r>
              <a:rPr lang="de-DE" sz="4800" b="1" dirty="0"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htl-leoben</a:t>
            </a:r>
            <a:r>
              <a:rPr lang="de-DE" sz="4400" b="1" dirty="0">
                <a:latin typeface="Arial" panose="020B0604020202020204" pitchFamily="34" charset="0"/>
                <a:ea typeface="Lato" panose="020F0502020204030203" pitchFamily="34" charset="0"/>
                <a:cs typeface="Arial" panose="020B0604020202020204" pitchFamily="34" charset="0"/>
              </a:rPr>
              <a:t>.at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AA4AA32-A2EF-4736-9330-E0056207BF4C}"/>
              </a:ext>
            </a:extLst>
          </p:cNvPr>
          <p:cNvSpPr/>
          <p:nvPr userDrawn="1"/>
        </p:nvSpPr>
        <p:spPr>
          <a:xfrm>
            <a:off x="10406" y="3281907"/>
            <a:ext cx="30264807" cy="6439611"/>
          </a:xfrm>
          <a:prstGeom prst="rect">
            <a:avLst/>
          </a:prstGeom>
          <a:solidFill>
            <a:srgbClr val="0963A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976BD9D-937B-4A90-A0D5-3B4747F09296}"/>
              </a:ext>
            </a:extLst>
          </p:cNvPr>
          <p:cNvSpPr txBox="1"/>
          <p:nvPr userDrawn="1"/>
        </p:nvSpPr>
        <p:spPr>
          <a:xfrm>
            <a:off x="12563507" y="1028125"/>
            <a:ext cx="94060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600" b="1" dirty="0">
                <a:solidFill>
                  <a:srgbClr val="98989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Diplomarbeit</a:t>
            </a:r>
            <a:endParaRPr lang="de-AT" sz="2000" b="1" dirty="0">
              <a:solidFill>
                <a:srgbClr val="98989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4421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txStyles>
    <p:titleStyle>
      <a:lvl1pPr algn="l" defTabSz="3027353" rtl="0" eaLnBrk="1" latinLnBrk="0" hangingPunct="1">
        <a:lnSpc>
          <a:spcPct val="90000"/>
        </a:lnSpc>
        <a:spcBef>
          <a:spcPct val="0"/>
        </a:spcBef>
        <a:buNone/>
        <a:defRPr sz="145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38" indent="-756838" algn="l" defTabSz="3027353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514" indent="-756838" algn="l" defTabSz="3027353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191" indent="-756838" algn="l" defTabSz="3027353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1" kern="1200">
          <a:solidFill>
            <a:schemeClr val="tx1"/>
          </a:solidFill>
          <a:latin typeface="+mn-lt"/>
          <a:ea typeface="+mn-ea"/>
          <a:cs typeface="+mn-cs"/>
        </a:defRPr>
      </a:lvl3pPr>
      <a:lvl4pPr marL="5297867" indent="-756838" algn="l" defTabSz="3027353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544" indent="-756838" algn="l" defTabSz="3027353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220" indent="-756838" algn="l" defTabSz="3027353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8897" indent="-756838" algn="l" defTabSz="3027353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2573" indent="-756838" algn="l" defTabSz="3027353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250" indent="-756838" algn="l" defTabSz="3027353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353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676" algn="l" defTabSz="3027353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353" algn="l" defTabSz="3027353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028" algn="l" defTabSz="3027353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706" algn="l" defTabSz="3027353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382" algn="l" defTabSz="3027353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059" algn="l" defTabSz="3027353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5734" algn="l" defTabSz="3027353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411" algn="l" defTabSz="3027353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A4EF6EE1-85F4-4361-A154-ADF2A3E54C86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algn="l"/>
            <a:endParaRPr lang="de-DE" b="0" dirty="0"/>
          </a:p>
          <a:p>
            <a:pPr algn="l"/>
            <a:r>
              <a:rPr lang="de-DE" b="0" dirty="0"/>
              <a:t>Ziel der Diplomarbeit ist die Erstellung und Konfiguration einer sicheren, digitalen </a:t>
            </a:r>
            <a:r>
              <a:rPr lang="de-DE" b="0" dirty="0" err="1"/>
              <a:t>Cybersecurity</a:t>
            </a:r>
            <a:r>
              <a:rPr lang="de-DE" b="0" dirty="0"/>
              <a:t>-Range für den Unterricht. In dieser Umgebung können Cyberangriffe realitätsnah, aber gefahrlos geübt werden. Gleichzeitig soll sichtbar werden, wie Angriffe früh erkannt und nachvollziehbar dargestellt werden können.</a:t>
            </a:r>
            <a:endParaRPr lang="de-AT" dirty="0"/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17444110-CEBC-4B6D-9CB5-8D8E1B92AC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35038" y="30663694"/>
            <a:ext cx="14202568" cy="5201562"/>
          </a:xfrm>
        </p:spPr>
        <p:txBody>
          <a:bodyPr/>
          <a:lstStyle/>
          <a:p>
            <a:pPr algn="l"/>
            <a:r>
              <a:rPr lang="de-DE" b="0" dirty="0"/>
              <a:t>Im praktischen Teil wurden eine </a:t>
            </a:r>
            <a:r>
              <a:rPr lang="de-DE" dirty="0"/>
              <a:t>virtuelle Übungsumgebung</a:t>
            </a:r>
            <a:r>
              <a:rPr lang="de-DE" b="0" dirty="0"/>
              <a:t> aufgebaut und umfassend getestet. Typische </a:t>
            </a:r>
            <a:r>
              <a:rPr lang="de-DE" dirty="0"/>
              <a:t>Angriffsszenarien</a:t>
            </a:r>
            <a:r>
              <a:rPr lang="de-DE" b="0" dirty="0"/>
              <a:t> konnten realitätsnah simuliert werden, ohne echte Systeme zu gefährden. Das </a:t>
            </a:r>
            <a:r>
              <a:rPr lang="de-DE" dirty="0"/>
              <a:t>Überwachungssystem (IDS)</a:t>
            </a:r>
            <a:r>
              <a:rPr lang="de-DE" b="0" dirty="0"/>
              <a:t> erkannte verdächtige Aktivitäten und visualisierte diese zentral.</a:t>
            </a:r>
            <a:br>
              <a:rPr lang="de-DE" dirty="0"/>
            </a:br>
            <a:r>
              <a:rPr lang="de-DE" b="0" dirty="0"/>
              <a:t>Ergebnis: </a:t>
            </a:r>
            <a:r>
              <a:rPr lang="de-DE" dirty="0"/>
              <a:t>nachvollziehbare Angriffsabläufe, geeignet für modernen </a:t>
            </a:r>
            <a:r>
              <a:rPr lang="de-DE" dirty="0" err="1"/>
              <a:t>Cybersecurity</a:t>
            </a:r>
            <a:r>
              <a:rPr lang="de-DE" dirty="0"/>
              <a:t>-Unterricht</a:t>
            </a:r>
            <a:r>
              <a:rPr lang="de-DE" b="0" dirty="0"/>
              <a:t>.</a:t>
            </a:r>
            <a:endParaRPr lang="de-AT" dirty="0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5F7D7315-AD8D-4AF7-B4FF-03AAF29A2814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de-AT" dirty="0"/>
              <a:t>Tobias Eichelberger, Lukas </a:t>
            </a:r>
            <a:r>
              <a:rPr lang="de-AT" dirty="0" err="1"/>
              <a:t>Macuha</a:t>
            </a:r>
            <a:endParaRPr lang="de-AT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8E37BBE8-89EC-4B5A-B02A-ED960032131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5393826" y="19347331"/>
            <a:ext cx="13946349" cy="6894228"/>
          </a:xfrm>
        </p:spPr>
        <p:txBody>
          <a:bodyPr/>
          <a:lstStyle/>
          <a:p>
            <a:pPr algn="l"/>
            <a:r>
              <a:rPr lang="de-DE" b="0" dirty="0"/>
              <a:t>Im theoretischen Teil wurden </a:t>
            </a:r>
            <a:r>
              <a:rPr lang="de-DE" dirty="0"/>
              <a:t>Angriffsabläufe</a:t>
            </a:r>
            <a:r>
              <a:rPr lang="de-DE" b="0" dirty="0"/>
              <a:t>, </a:t>
            </a:r>
            <a:r>
              <a:rPr lang="de-DE" dirty="0"/>
              <a:t>Risiken</a:t>
            </a:r>
            <a:r>
              <a:rPr lang="de-DE" b="0" dirty="0"/>
              <a:t> und </a:t>
            </a:r>
            <a:r>
              <a:rPr lang="de-DE" dirty="0"/>
              <a:t>wirksame Schutzmaßnahmen</a:t>
            </a:r>
            <a:r>
              <a:rPr lang="de-DE" b="0" dirty="0"/>
              <a:t> untersucht. Außerdem erfolgte ein Vergleich von </a:t>
            </a:r>
            <a:r>
              <a:rPr lang="de-DE" dirty="0"/>
              <a:t>Angriffserkennungssystemen (IDS)</a:t>
            </a:r>
            <a:r>
              <a:rPr lang="de-DE" b="0" dirty="0"/>
              <a:t>.</a:t>
            </a:r>
            <a:br>
              <a:rPr lang="de-DE" dirty="0"/>
            </a:br>
            <a:r>
              <a:rPr lang="de-DE" b="0" dirty="0"/>
              <a:t>Kernaussage: </a:t>
            </a:r>
            <a:r>
              <a:rPr lang="de-DE" dirty="0"/>
              <a:t>Sicherheitsregeln</a:t>
            </a:r>
            <a:r>
              <a:rPr lang="de-DE" b="0" dirty="0"/>
              <a:t>, </a:t>
            </a:r>
            <a:r>
              <a:rPr lang="de-DE" dirty="0"/>
              <a:t>starke Passwörter</a:t>
            </a:r>
            <a:r>
              <a:rPr lang="de-DE" b="0" dirty="0"/>
              <a:t>, </a:t>
            </a:r>
            <a:r>
              <a:rPr lang="de-DE" dirty="0"/>
              <a:t>klare Berechtigungen</a:t>
            </a:r>
            <a:r>
              <a:rPr lang="de-DE" b="0" dirty="0"/>
              <a:t> und </a:t>
            </a:r>
            <a:r>
              <a:rPr lang="de-DE" dirty="0"/>
              <a:t>kontinuierliches Monitoring</a:t>
            </a:r>
            <a:r>
              <a:rPr lang="de-DE" b="0" dirty="0"/>
              <a:t> sind entscheidend</a:t>
            </a:r>
            <a:br>
              <a:rPr lang="de-DE" dirty="0"/>
            </a:br>
            <a:r>
              <a:rPr lang="de-DE" b="0" dirty="0"/>
              <a:t>Ergebnis: </a:t>
            </a:r>
            <a:r>
              <a:rPr lang="de-DE" dirty="0"/>
              <a:t>frühe Erkennung</a:t>
            </a:r>
            <a:r>
              <a:rPr lang="de-DE" b="0" dirty="0"/>
              <a:t>, </a:t>
            </a:r>
            <a:r>
              <a:rPr lang="de-DE" dirty="0"/>
              <a:t>schnelle Reaktion</a:t>
            </a:r>
            <a:r>
              <a:rPr lang="de-DE" b="0" dirty="0"/>
              <a:t>, </a:t>
            </a:r>
            <a:r>
              <a:rPr lang="de-DE" dirty="0"/>
              <a:t>geringere Schäden</a:t>
            </a:r>
            <a:r>
              <a:rPr lang="de-DE" b="0" dirty="0"/>
              <a:t>.</a:t>
            </a:r>
            <a:endParaRPr lang="de-AT" dirty="0"/>
          </a:p>
        </p:txBody>
      </p:sp>
      <p:sp>
        <p:nvSpPr>
          <p:cNvPr id="15" name="Inhaltsplatzhalter 14">
            <a:extLst>
              <a:ext uri="{FF2B5EF4-FFF2-40B4-BE49-F238E27FC236}">
                <a16:creationId xmlns:a16="http://schemas.microsoft.com/office/drawing/2014/main" id="{F1F15DDC-A75D-44C4-8E9B-7D57B7E1D70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0" y="3657600"/>
            <a:ext cx="30275213" cy="5043292"/>
          </a:xfrm>
        </p:spPr>
        <p:txBody>
          <a:bodyPr/>
          <a:lstStyle/>
          <a:p>
            <a:r>
              <a:rPr lang="en-GB" dirty="0"/>
              <a:t>Virtuelle Cybersecurity-Testumgebung mit IDS</a:t>
            </a:r>
          </a:p>
        </p:txBody>
      </p:sp>
      <p:sp>
        <p:nvSpPr>
          <p:cNvPr id="9" name="AutoShape 2" descr="Ein Bild, das Screenshot, Text, Software, Multimedia-Software enthält.&#10;&#10;Automatisch generierte Beschreibung">
            <a:extLst>
              <a:ext uri="{FF2B5EF4-FFF2-40B4-BE49-F238E27FC236}">
                <a16:creationId xmlns:a16="http://schemas.microsoft.com/office/drawing/2014/main" id="{BB2023B5-BF21-437B-B445-24D570C443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984413" y="2124868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7" name="Inhaltsplatzhalter 8" descr="Ein Bild, das Diagramm, Text, Karte enthält.&#10;&#10;KI-generierte Inhalte können fehlerhaft sein.">
            <a:extLst>
              <a:ext uri="{FF2B5EF4-FFF2-40B4-BE49-F238E27FC236}">
                <a16:creationId xmlns:a16="http://schemas.microsoft.com/office/drawing/2014/main" id="{82CC687B-CC70-27A7-D2F8-B4C5C33280ED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0" t="-2673" r="5926" b="2673"/>
          <a:stretch>
            <a:fillRect/>
          </a:stretch>
        </p:blipFill>
        <p:spPr>
          <a:xfrm>
            <a:off x="16225838" y="28703588"/>
            <a:ext cx="13114337" cy="9121775"/>
          </a:xfrm>
          <a:prstGeom prst="rect">
            <a:avLst/>
          </a:prstGeom>
        </p:spPr>
      </p:pic>
      <p:pic>
        <p:nvPicPr>
          <p:cNvPr id="16" name="Bildplatzhalter 15">
            <a:extLst>
              <a:ext uri="{FF2B5EF4-FFF2-40B4-BE49-F238E27FC236}">
                <a16:creationId xmlns:a16="http://schemas.microsoft.com/office/drawing/2014/main" id="{1F46CF9D-2B87-954B-502A-49F82358FDF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66" t="3074" r="2168" b="-3074"/>
          <a:stretch>
            <a:fillRect/>
          </a:stretch>
        </p:blipFill>
        <p:spPr>
          <a:xfrm>
            <a:off x="593362" y="18201675"/>
            <a:ext cx="14049898" cy="977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1594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4CB4D94694C6C4497074175C0CB9EC7" ma:contentTypeVersion="9" ma:contentTypeDescription="Create a new document." ma:contentTypeScope="" ma:versionID="978871d5ecab1c5bc96bae753ca5201c">
  <xsd:schema xmlns:xsd="http://www.w3.org/2001/XMLSchema" xmlns:xs="http://www.w3.org/2001/XMLSchema" xmlns:p="http://schemas.microsoft.com/office/2006/metadata/properties" xmlns:ns2="95073dbd-529e-4168-8b89-5095f680e838" targetNamespace="http://schemas.microsoft.com/office/2006/metadata/properties" ma:root="true" ma:fieldsID="683fdc4ed8203e5744d34fe0db2929ab" ns2:_="">
    <xsd:import namespace="95073dbd-529e-4168-8b89-5095f680e83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073dbd-529e-4168-8b89-5095f680e83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B8603C9-7727-411E-BD6C-694A8ED01D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5073dbd-529e-4168-8b89-5095f680e83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B2E5DC6-0500-44EE-AED5-81508B4384EA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33CC1DD1-960A-4156-AAD2-FBE002C9E09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150</Words>
  <Application>Microsoft Office PowerPoint</Application>
  <PresentationFormat>Benutzerdefiniert</PresentationFormat>
  <Paragraphs>6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Lato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Diplomarbeit Titel der Diplomarbeit</dc:title>
  <dc:creator>alexandra.gmundtner@htl-leoben.at</dc:creator>
  <cp:lastModifiedBy>Eichelberger Tobias</cp:lastModifiedBy>
  <cp:revision>40</cp:revision>
  <dcterms:created xsi:type="dcterms:W3CDTF">2025-03-27T07:28:30Z</dcterms:created>
  <dcterms:modified xsi:type="dcterms:W3CDTF">2026-03-06T07:59:27Z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0x01010034CB4D94694C6C4497074175C0CB9EC7</vt:lpwstr>
  </property>
</Properties>
</file>