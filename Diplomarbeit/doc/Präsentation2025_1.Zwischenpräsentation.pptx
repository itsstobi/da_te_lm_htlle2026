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90" r:id="rId6"/>
    <p:sldId id="2599" r:id="rId7"/>
    <p:sldId id="2591" r:id="rId8"/>
    <p:sldId id="2593" r:id="rId9"/>
    <p:sldId id="2594" r:id="rId10"/>
    <p:sldId id="2595" r:id="rId11"/>
    <p:sldId id="2598" r:id="rId12"/>
    <p:sldId id="2596" r:id="rId13"/>
    <p:sldId id="2589" r:id="rId14"/>
    <p:sldId id="2597" r:id="rId15"/>
    <p:sldId id="2582" r:id="rId16"/>
    <p:sldId id="2587" r:id="rId17"/>
    <p:sldId id="2585" r:id="rId18"/>
    <p:sldId id="2588" r:id="rId19"/>
    <p:sldId id="2584" r:id="rId20"/>
  </p:sldIdLst>
  <p:sldSz cx="12192000" cy="6858000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AE00"/>
    <a:srgbClr val="660033"/>
    <a:srgbClr val="437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28" autoAdjust="0"/>
    <p:restoredTop sz="94660"/>
  </p:normalViewPr>
  <p:slideViewPr>
    <p:cSldViewPr snapToGrid="0">
      <p:cViewPr>
        <p:scale>
          <a:sx n="70" d="100"/>
          <a:sy n="70" d="100"/>
        </p:scale>
        <p:origin x="974" y="1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5592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6" y="1"/>
            <a:ext cx="3075647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999" y="1"/>
            <a:ext cx="3075646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4597EA2D-D11E-4F11-940E-96FC3DC86B48}" type="datetimeFigureOut">
              <a:rPr lang="de-DE" smtClean="0"/>
              <a:pPr/>
              <a:t>07.11.2025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6" y="9721499"/>
            <a:ext cx="3075647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999" y="9721499"/>
            <a:ext cx="3075646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ED1FD422-38C1-46E5-AEB3-FCA53D65A208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33588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9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25FA59D5-1C02-4780-AF81-09ADAD492357}" type="datetimeFigureOut">
              <a:rPr lang="de-AT" smtClean="0"/>
              <a:pPr/>
              <a:t>07.11.2025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19900" cy="383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519" tIns="47259" rIns="94519" bIns="47259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519" tIns="47259" rIns="94519" bIns="47259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9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7AA6D168-C717-485B-B0C8-699ECBDF2CFF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77337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19900" cy="38369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A6D168-C717-485B-B0C8-699ECBDF2CFF}" type="slidenum">
              <a:rPr lang="de-AT" smtClean="0"/>
              <a:pPr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3239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79BE2-0BF2-2326-3BF6-14192C1F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48ACFDB-F93A-90C6-BBF0-7AD66960D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19900" cy="3836987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2908064-B474-649B-93EE-F6AFCE7C7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4D4BF1C-E404-9D8E-31CC-B4536127FC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A6D168-C717-485B-B0C8-699ECBDF2CFF}" type="slidenum">
              <a:rPr lang="de-AT" smtClean="0"/>
              <a:pPr/>
              <a:t>11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57293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DBAB2-6CCA-40C7-8885-2C056A77E284}" type="datetime1">
              <a:rPr lang="de-AT" smtClean="0"/>
              <a:t>07.11.2025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sp>
        <p:nvSpPr>
          <p:cNvPr id="14" name="Textfeld 13"/>
          <p:cNvSpPr txBox="1"/>
          <p:nvPr userDrawn="1"/>
        </p:nvSpPr>
        <p:spPr>
          <a:xfrm>
            <a:off x="1967541" y="6381328"/>
            <a:ext cx="2688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www.</a:t>
            </a:r>
            <a:r>
              <a:rPr lang="de-AT" sz="16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htl-</a:t>
            </a:r>
            <a:r>
              <a:rPr lang="de-AT" sz="1600">
                <a:solidFill>
                  <a:schemeClr val="tx2"/>
                </a:solidFill>
                <a:latin typeface="Adobe Gothic Std B" pitchFamily="34" charset="-128"/>
                <a:ea typeface="Adobe Gothic Std B" pitchFamily="34" charset="-128"/>
              </a:rPr>
              <a:t>leoben</a:t>
            </a:r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.at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AF41BCF-DE93-46E8-96C4-64339D1576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6800" y="259200"/>
            <a:ext cx="6224367" cy="12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05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9158" y="188640"/>
            <a:ext cx="10270380" cy="72008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09600" y="1052739"/>
            <a:ext cx="10972800" cy="50734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B591F-AE7F-406B-977E-415D708CD05B}" type="datetime1">
              <a:rPr lang="de-AT" smtClean="0"/>
              <a:t>07.11.2025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9" name="Gerade Verbindung 8"/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8"/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614C7656-561A-4230-AE49-F934B2154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9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08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4213-31A7-43A9-B381-650B72838F3D}" type="datetime1">
              <a:rPr lang="de-AT" smtClean="0"/>
              <a:t>07.11.2025</a:t>
            </a:fld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26" name="Gerade Verbindung 8">
            <a:extLst>
              <a:ext uri="{FF2B5EF4-FFF2-40B4-BE49-F238E27FC236}">
                <a16:creationId xmlns:a16="http://schemas.microsoft.com/office/drawing/2014/main" id="{B231FD8D-BD46-413B-B98F-46B87457439F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8">
            <a:extLst>
              <a:ext uri="{FF2B5EF4-FFF2-40B4-BE49-F238E27FC236}">
                <a16:creationId xmlns:a16="http://schemas.microsoft.com/office/drawing/2014/main" id="{FF9F6E03-68AB-4FB8-BF89-42F3F9730FF5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ußzeilenplatzhalter 4">
            <a:extLst>
              <a:ext uri="{FF2B5EF4-FFF2-40B4-BE49-F238E27FC236}">
                <a16:creationId xmlns:a16="http://schemas.microsoft.com/office/drawing/2014/main" id="{61780AA7-F848-43F9-AE0D-14BBE9A66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16B0F48-B7CD-4678-8B22-ED12B938C2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1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941989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17053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9" y="941989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9" y="1705316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23C63-4118-48BA-956A-11DEEC1AA07D}" type="datetime1">
              <a:rPr lang="de-AT" smtClean="0"/>
              <a:t>07.11.2025</a:t>
            </a:fld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12" name="Gerade Verbindung 8">
            <a:extLst>
              <a:ext uri="{FF2B5EF4-FFF2-40B4-BE49-F238E27FC236}">
                <a16:creationId xmlns:a16="http://schemas.microsoft.com/office/drawing/2014/main" id="{D2F1EB9E-8380-425B-B884-1A5E1DD9E9F2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8">
            <a:extLst>
              <a:ext uri="{FF2B5EF4-FFF2-40B4-BE49-F238E27FC236}">
                <a16:creationId xmlns:a16="http://schemas.microsoft.com/office/drawing/2014/main" id="{C32164E0-C3F5-4411-BA01-05D65208091F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155BF4B4-4484-4D9C-BFD8-E75462DA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5378A7E-CD4F-4738-BF47-8D1B09A913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6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355E-663F-46F6-A58A-7E827B834F26}" type="datetime1">
              <a:rPr lang="de-AT" smtClean="0"/>
              <a:t>07.11.2025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4084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oxmox.com/de/" TargetMode="External"/><Relationship Id="rId3" Type="http://schemas.openxmlformats.org/officeDocument/2006/relationships/hyperlink" Target="https://wazuh.com/platform/overview/" TargetMode="External"/><Relationship Id="rId7" Type="http://schemas.openxmlformats.org/officeDocument/2006/relationships/hyperlink" Target="https://docs.securityonion.net/en/2.4/" TargetMode="External"/><Relationship Id="rId2" Type="http://schemas.openxmlformats.org/officeDocument/2006/relationships/hyperlink" Target="https://www.paloaltonetworks.de/cyberpedia/what-is-an-intrusion-detection-system-id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nort.org/documents#OfficialDocumentation" TargetMode="External"/><Relationship Id="rId5" Type="http://schemas.openxmlformats.org/officeDocument/2006/relationships/hyperlink" Target="https://tailscale.com/" TargetMode="External"/><Relationship Id="rId10" Type="http://schemas.openxmlformats.org/officeDocument/2006/relationships/hyperlink" Target="https://www.youtube.com/watch?v=K7y_-JtpZ7I" TargetMode="External"/><Relationship Id="rId4" Type="http://schemas.openxmlformats.org/officeDocument/2006/relationships/hyperlink" Target="https://www.wireguard.com/" TargetMode="External"/><Relationship Id="rId9" Type="http://schemas.openxmlformats.org/officeDocument/2006/relationships/hyperlink" Target="https://www.youtube.com/watch?v=EWJM3tERMXs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azuh.com/platform/overview/" TargetMode="External"/><Relationship Id="rId2" Type="http://schemas.openxmlformats.org/officeDocument/2006/relationships/hyperlink" Target="https://www.paloaltonetworks.de/cyberpedia/what-is-an-intrusion-detection-system-id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ireguard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26"/>
          <p:cNvSpPr txBox="1">
            <a:spLocks noChangeArrowheads="1"/>
          </p:cNvSpPr>
          <p:nvPr/>
        </p:nvSpPr>
        <p:spPr>
          <a:xfrm>
            <a:off x="2094902" y="2749444"/>
            <a:ext cx="8002195" cy="1459726"/>
          </a:xfrm>
          <a:prstGeom prst="rect">
            <a:avLst/>
          </a:prstGeom>
        </p:spPr>
        <p:txBody>
          <a:bodyPr/>
          <a:lstStyle/>
          <a:p>
            <a:r>
              <a:rPr lang="de-DE" sz="3200" b="1" dirty="0">
                <a:solidFill>
                  <a:srgbClr val="9BBB59"/>
                </a:solidFill>
              </a:rPr>
              <a:t>Virtuelle </a:t>
            </a:r>
            <a:r>
              <a:rPr lang="de-DE" sz="3200" b="1" dirty="0" err="1">
                <a:solidFill>
                  <a:srgbClr val="9BBB59"/>
                </a:solidFill>
              </a:rPr>
              <a:t>Cybersecurity</a:t>
            </a:r>
            <a:r>
              <a:rPr lang="de-DE" sz="3200" b="1" dirty="0">
                <a:solidFill>
                  <a:srgbClr val="9BBB59"/>
                </a:solidFill>
              </a:rPr>
              <a:t>-Testumgebung mit IDS </a:t>
            </a:r>
          </a:p>
          <a:p>
            <a:r>
              <a:rPr lang="de-DE" sz="3200" b="1" dirty="0">
                <a:solidFill>
                  <a:srgbClr val="9BBB59"/>
                </a:solidFill>
              </a:rPr>
              <a:t>1. Zwischenpräsentation</a:t>
            </a:r>
          </a:p>
        </p:txBody>
      </p:sp>
      <p:sp>
        <p:nvSpPr>
          <p:cNvPr id="7" name="Text Box 1030">
            <a:extLst>
              <a:ext uri="{FF2B5EF4-FFF2-40B4-BE49-F238E27FC236}">
                <a16:creationId xmlns:a16="http://schemas.microsoft.com/office/drawing/2014/main" id="{ED76D2C5-1C5A-49E1-B111-D7EA454A9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7121" y="4209170"/>
            <a:ext cx="222656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Ins="54000">
            <a:spAutoFit/>
          </a:bodyPr>
          <a:lstStyle/>
          <a:p>
            <a:r>
              <a:rPr lang="nl-NL" sz="2000" dirty="0"/>
              <a:t>Tobias Eichelberger</a:t>
            </a:r>
          </a:p>
          <a:p>
            <a:r>
              <a:rPr lang="nl-NL" sz="2000" dirty="0"/>
              <a:t>Lukas </a:t>
            </a:r>
            <a:r>
              <a:rPr lang="nl-NL" sz="2000" dirty="0" err="1"/>
              <a:t>Macuha</a:t>
            </a:r>
            <a:endParaRPr lang="nl-NL" sz="2000" dirty="0"/>
          </a:p>
        </p:txBody>
      </p:sp>
      <p:sp>
        <p:nvSpPr>
          <p:cNvPr id="8" name="Text Box 1030">
            <a:extLst>
              <a:ext uri="{FF2B5EF4-FFF2-40B4-BE49-F238E27FC236}">
                <a16:creationId xmlns:a16="http://schemas.microsoft.com/office/drawing/2014/main" id="{7CF2A42E-995E-450D-9017-7EE5A0A26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5054" y="4943680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r>
              <a:rPr lang="de-AT" dirty="0"/>
              <a:t>12.11.2025</a:t>
            </a:r>
          </a:p>
        </p:txBody>
      </p:sp>
      <p:sp>
        <p:nvSpPr>
          <p:cNvPr id="5" name="Text Box 1030">
            <a:extLst>
              <a:ext uri="{FF2B5EF4-FFF2-40B4-BE49-F238E27FC236}">
                <a16:creationId xmlns:a16="http://schemas.microsoft.com/office/drawing/2014/main" id="{549EEA25-235A-4DB2-B18D-8226E1B72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8750" y="5286388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dirty="0"/>
              <a:t>Betreuer/in: DI Dr. Thomas Messner</a:t>
            </a:r>
          </a:p>
        </p:txBody>
      </p:sp>
      <p:sp>
        <p:nvSpPr>
          <p:cNvPr id="9" name="Text Box 1030">
            <a:extLst>
              <a:ext uri="{FF2B5EF4-FFF2-40B4-BE49-F238E27FC236}">
                <a16:creationId xmlns:a16="http://schemas.microsoft.com/office/drawing/2014/main" id="{0CE138CF-753E-4573-B47E-8055A445E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590" y="5608392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dirty="0"/>
              <a:t>Firmenpartner: HTL Leoben</a:t>
            </a:r>
          </a:p>
        </p:txBody>
      </p:sp>
    </p:spTree>
    <p:extLst>
      <p:ext uri="{BB962C8B-B14F-4D97-AF65-F5344CB8AC3E}">
        <p14:creationId xmlns:p14="http://schemas.microsoft.com/office/powerpoint/2010/main" val="3194803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767F8-18D8-EF49-7FEF-46B7C4F27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6865CE-A107-6C65-FA24-D046FAE56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PM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D18969-D0BB-988F-9930-E6AD6BC96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148" y="1095823"/>
            <a:ext cx="10926390" cy="5073427"/>
          </a:xfrm>
        </p:spPr>
        <p:txBody>
          <a:bodyPr>
            <a:normAutofit/>
          </a:bodyPr>
          <a:lstStyle/>
          <a:p>
            <a:r>
              <a:rPr lang="de-DE" dirty="0"/>
              <a:t>Milestones</a:t>
            </a:r>
          </a:p>
          <a:p>
            <a:pPr lvl="1"/>
            <a:r>
              <a:rPr lang="de-DE" dirty="0"/>
              <a:t>18.05.2025 – </a:t>
            </a:r>
            <a:r>
              <a:rPr lang="de-DE" dirty="0" err="1"/>
              <a:t>Proxmox</a:t>
            </a:r>
            <a:r>
              <a:rPr lang="de-DE" dirty="0"/>
              <a:t>-Server eingerichtet </a:t>
            </a:r>
            <a:r>
              <a:rPr lang="de-DE" dirty="0">
                <a:sym typeface="Wingdings" panose="05000000000000000000" pitchFamily="2" charset="2"/>
              </a:rPr>
              <a:t>– </a:t>
            </a:r>
            <a:r>
              <a:rPr lang="de-AT" dirty="0"/>
              <a:t>✅</a:t>
            </a:r>
            <a:r>
              <a:rPr lang="de-DE" dirty="0">
                <a:sym typeface="Wingdings" panose="05000000000000000000" pitchFamily="2" charset="2"/>
              </a:rPr>
              <a:t> </a:t>
            </a:r>
            <a:endParaRPr lang="de-DE" dirty="0">
              <a:solidFill>
                <a:srgbClr val="00B050"/>
              </a:solidFill>
            </a:endParaRPr>
          </a:p>
          <a:p>
            <a:pPr lvl="1"/>
            <a:r>
              <a:rPr lang="de-DE" dirty="0"/>
              <a:t>06.07.2025 – VPN-Verbindung erfolgreich eingerichtet </a:t>
            </a:r>
            <a:r>
              <a:rPr lang="de-DE" dirty="0">
                <a:sym typeface="Wingdings" panose="05000000000000000000" pitchFamily="2" charset="2"/>
              </a:rPr>
              <a:t>– </a:t>
            </a:r>
            <a:r>
              <a:rPr lang="de-AT" dirty="0"/>
              <a:t>✅</a:t>
            </a:r>
            <a:endParaRPr lang="de-DE" dirty="0">
              <a:sym typeface="Wingdings" panose="05000000000000000000" pitchFamily="2" charset="2"/>
            </a:endParaRPr>
          </a:p>
          <a:p>
            <a:pPr lvl="1"/>
            <a:r>
              <a:rPr lang="de-DE" dirty="0"/>
              <a:t>26.07.2025 – GNS3 installiert </a:t>
            </a:r>
            <a:r>
              <a:rPr lang="de-DE" dirty="0">
                <a:sym typeface="Wingdings" panose="05000000000000000000" pitchFamily="2" charset="2"/>
              </a:rPr>
              <a:t>– </a:t>
            </a:r>
            <a:r>
              <a:rPr lang="de-AT" dirty="0"/>
              <a:t>✅</a:t>
            </a:r>
            <a:r>
              <a:rPr lang="de-DE" dirty="0">
                <a:sym typeface="Wingdings" panose="05000000000000000000" pitchFamily="2" charset="2"/>
              </a:rPr>
              <a:t> </a:t>
            </a:r>
            <a:endParaRPr lang="de-DE" dirty="0"/>
          </a:p>
          <a:p>
            <a:pPr lvl="1"/>
            <a:r>
              <a:rPr lang="de-DE" dirty="0"/>
              <a:t>17.08.2025 – Client und Domaincontroller eingerichtet </a:t>
            </a:r>
            <a:r>
              <a:rPr lang="de-DE" dirty="0">
                <a:sym typeface="Wingdings" panose="05000000000000000000" pitchFamily="2" charset="2"/>
              </a:rPr>
              <a:t>– </a:t>
            </a:r>
            <a:r>
              <a:rPr lang="de-AT" dirty="0"/>
              <a:t>✅</a:t>
            </a:r>
            <a:r>
              <a:rPr lang="de-DE" dirty="0">
                <a:sym typeface="Wingdings" panose="05000000000000000000" pitchFamily="2" charset="2"/>
              </a:rPr>
              <a:t> </a:t>
            </a:r>
            <a:endParaRPr lang="de-DE" dirty="0"/>
          </a:p>
          <a:p>
            <a:pPr lvl="1"/>
            <a:r>
              <a:rPr lang="de-DE" dirty="0"/>
              <a:t>28.08.2025 – Netzwerkscan mit </a:t>
            </a:r>
            <a:r>
              <a:rPr lang="de-DE" dirty="0" err="1"/>
              <a:t>Nmap</a:t>
            </a:r>
            <a:r>
              <a:rPr lang="de-DE" dirty="0"/>
              <a:t> und </a:t>
            </a:r>
            <a:r>
              <a:rPr lang="de-DE" dirty="0" err="1"/>
              <a:t>Netdiscover</a:t>
            </a:r>
            <a:r>
              <a:rPr lang="de-DE" dirty="0"/>
              <a:t> durchgeführt – </a:t>
            </a:r>
            <a:r>
              <a:rPr lang="de-AT" dirty="0"/>
              <a:t>✅</a:t>
            </a:r>
            <a:endParaRPr lang="de-DE" dirty="0"/>
          </a:p>
          <a:p>
            <a:pPr lvl="1"/>
            <a:r>
              <a:rPr lang="de-DE" dirty="0"/>
              <a:t>31.08.2025 – Drei IDS-Systeme miteinander verglichen </a:t>
            </a:r>
            <a:r>
              <a:rPr lang="de-DE" dirty="0">
                <a:sym typeface="Wingdings" panose="05000000000000000000" pitchFamily="2" charset="2"/>
              </a:rPr>
              <a:t>– </a:t>
            </a:r>
            <a:r>
              <a:rPr lang="de-AT" dirty="0"/>
              <a:t>✅</a:t>
            </a:r>
            <a:r>
              <a:rPr lang="de-DE" dirty="0">
                <a:sym typeface="Wingdings" panose="05000000000000000000" pitchFamily="2" charset="2"/>
              </a:rPr>
              <a:t> </a:t>
            </a:r>
            <a:endParaRPr lang="de-DE" dirty="0"/>
          </a:p>
          <a:p>
            <a:pPr lvl="1"/>
            <a:r>
              <a:rPr lang="de-DE" dirty="0"/>
              <a:t>07.09.2025 – Ausgewähltes IDS-System implementiert </a:t>
            </a:r>
            <a:r>
              <a:rPr lang="de-DE" dirty="0">
                <a:sym typeface="Wingdings" panose="05000000000000000000" pitchFamily="2" charset="2"/>
              </a:rPr>
              <a:t>– </a:t>
            </a:r>
            <a:r>
              <a:rPr lang="de-AT" dirty="0"/>
              <a:t>✅</a:t>
            </a:r>
            <a:r>
              <a:rPr lang="de-DE" dirty="0">
                <a:sym typeface="Wingdings" panose="05000000000000000000" pitchFamily="2" charset="2"/>
              </a:rPr>
              <a:t> </a:t>
            </a:r>
            <a:endParaRPr lang="de-DE" dirty="0"/>
          </a:p>
          <a:p>
            <a:pPr lvl="1"/>
            <a:r>
              <a:rPr lang="de-DE" dirty="0"/>
              <a:t>13.09.2025 – Erste Simulation mit </a:t>
            </a:r>
            <a:r>
              <a:rPr lang="de-DE" dirty="0" err="1"/>
              <a:t>Mimikatz</a:t>
            </a:r>
            <a:r>
              <a:rPr lang="de-DE" dirty="0"/>
              <a:t> und Metasploit durchgeführt – </a:t>
            </a:r>
            <a:r>
              <a:rPr lang="de-AT" dirty="0"/>
              <a:t>❌</a:t>
            </a:r>
            <a:r>
              <a:rPr lang="de-DE" dirty="0"/>
              <a:t> </a:t>
            </a:r>
          </a:p>
          <a:p>
            <a:pPr lvl="1"/>
            <a:r>
              <a:rPr lang="de-DE" dirty="0"/>
              <a:t>15.09.2025 – Reaktion des IDS überprüft – </a:t>
            </a:r>
            <a:r>
              <a:rPr lang="de-AT" dirty="0"/>
              <a:t>✅</a:t>
            </a:r>
            <a:r>
              <a:rPr lang="de-DE" dirty="0"/>
              <a:t> </a:t>
            </a:r>
          </a:p>
          <a:p>
            <a:pPr lvl="1"/>
            <a:r>
              <a:rPr lang="de-AT" dirty="0"/>
              <a:t>31.01.2026 </a:t>
            </a:r>
            <a:r>
              <a:rPr lang="de-DE" dirty="0"/>
              <a:t>– Dokumentation abgeschlossen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6C5FC09-7AD7-C019-8236-F62D5933A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38501A8-A6BE-5D0A-BA53-CF087C0A8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77465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3EA1119-648C-9E2B-A3BA-76FC6597D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158" y="188640"/>
            <a:ext cx="10270380" cy="720080"/>
          </a:xfrm>
        </p:spPr>
        <p:txBody>
          <a:bodyPr anchor="ctr">
            <a:normAutofit/>
          </a:bodyPr>
          <a:lstStyle/>
          <a:p>
            <a:r>
              <a:rPr lang="en-US" dirty="0"/>
              <a:t>PM</a:t>
            </a:r>
          </a:p>
        </p:txBody>
      </p:sp>
      <p:pic>
        <p:nvPicPr>
          <p:cNvPr id="14" name="Inhaltsplatzhalter 13">
            <a:extLst>
              <a:ext uri="{FF2B5EF4-FFF2-40B4-BE49-F238E27FC236}">
                <a16:creationId xmlns:a16="http://schemas.microsoft.com/office/drawing/2014/main" id="{72E46ED7-0E49-859E-A641-B048198763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000" y="2092501"/>
            <a:ext cx="11880000" cy="2672998"/>
          </a:xfrm>
          <a:prstGeom prst="rect">
            <a:avLst/>
          </a:prstGeom>
          <a:noFill/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5E1A482-D6C3-92FB-37B3-9737E28EA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94DF722-B63B-EC29-25BE-295952B7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DCD6803-3BAA-44F6-A698-23D950C9713B}" type="slidenum">
              <a:rPr lang="de-AT" smtClean="0"/>
              <a:pPr>
                <a:spcAft>
                  <a:spcPts val="600"/>
                </a:spcAft>
              </a:pPr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66106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63F50-63EB-975B-052E-6CDA643A5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59345-1FFB-A8DE-4E9C-01DE1EEFC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PM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30E89F-3BC2-D8E9-F086-DDEBB86DC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Kosten</a:t>
            </a:r>
          </a:p>
          <a:p>
            <a:pPr lvl="1"/>
            <a:r>
              <a:rPr lang="de-AT" dirty="0"/>
              <a:t>Lüfter Server 13,80€</a:t>
            </a:r>
          </a:p>
          <a:p>
            <a:pPr lvl="1"/>
            <a:r>
              <a:rPr lang="de-AT" dirty="0"/>
              <a:t>Buchdruck 50€</a:t>
            </a:r>
          </a:p>
          <a:p>
            <a:pPr lvl="1"/>
            <a:r>
              <a:rPr lang="de-AT" dirty="0"/>
              <a:t>Betriebskosten Server (Strom)</a:t>
            </a:r>
          </a:p>
          <a:p>
            <a:pPr lvl="1"/>
            <a:endParaRPr lang="de-AT" dirty="0"/>
          </a:p>
          <a:p>
            <a:pPr lvl="1"/>
            <a:endParaRPr lang="de-AT" dirty="0"/>
          </a:p>
          <a:p>
            <a:pPr lvl="1"/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8848ABB-E0F2-1A5C-A69E-AF6F85C7C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F0F7D5F-443D-7653-7A7C-F38FDF9BE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30864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9D9AC-A98C-3B4E-3608-5900FAF1F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Aktueller Stand – Eichelberger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913CEC-C1DB-86B6-17C5-9B4905DEB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9"/>
            <a:ext cx="6604000" cy="2818221"/>
          </a:xfrm>
        </p:spPr>
        <p:txBody>
          <a:bodyPr/>
          <a:lstStyle/>
          <a:p>
            <a:r>
              <a:rPr lang="de-AT" dirty="0"/>
              <a:t>IDS-Systeme</a:t>
            </a:r>
          </a:p>
          <a:p>
            <a:pPr lvl="1"/>
            <a:r>
              <a:rPr lang="de-AT" dirty="0" err="1"/>
              <a:t>Wazuh</a:t>
            </a:r>
            <a:r>
              <a:rPr lang="de-AT" dirty="0"/>
              <a:t> – in der Umgebung implementiert</a:t>
            </a:r>
          </a:p>
          <a:p>
            <a:pPr lvl="1"/>
            <a:r>
              <a:rPr lang="de-AT" dirty="0" err="1"/>
              <a:t>Snort</a:t>
            </a:r>
            <a:endParaRPr lang="de-AT" dirty="0"/>
          </a:p>
          <a:p>
            <a:pPr lvl="1"/>
            <a:r>
              <a:rPr lang="de-AT" dirty="0"/>
              <a:t>Security </a:t>
            </a:r>
            <a:r>
              <a:rPr lang="de-AT" dirty="0" err="1"/>
              <a:t>Onion</a:t>
            </a:r>
            <a:endParaRPr lang="de-AT" dirty="0"/>
          </a:p>
          <a:p>
            <a:r>
              <a:rPr lang="de-AT" dirty="0"/>
              <a:t>VPN – Verbindung</a:t>
            </a:r>
          </a:p>
          <a:p>
            <a:pPr lvl="1"/>
            <a:r>
              <a:rPr lang="de-AT" dirty="0" err="1"/>
              <a:t>Tailscale</a:t>
            </a:r>
            <a:r>
              <a:rPr lang="de-AT" dirty="0"/>
              <a:t> erfolgreich eingerichtet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A782E7-D632-A5D4-F92A-42221D360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E12CCAB-0E11-D19E-1B09-88EE0DE96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5</a:t>
            </a:fld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50572B7-569D-0852-011C-5477CC6CF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070" y="2194325"/>
            <a:ext cx="4976734" cy="335326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B672E5C-94BF-18CE-6C8F-43F2697F9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158" y="3892928"/>
            <a:ext cx="3360035" cy="205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918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AF748D-C9D6-70B9-2259-D7C603FB0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Aktueller Stand – </a:t>
            </a:r>
            <a:r>
              <a:rPr lang="de-AT" dirty="0" err="1"/>
              <a:t>Macuha</a:t>
            </a:r>
            <a:r>
              <a:rPr lang="de-AT" dirty="0"/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0B9593-7C2A-48E6-DA59-48200AE52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Kali Linux vollständig aufgesetzt</a:t>
            </a:r>
          </a:p>
          <a:p>
            <a:pPr lvl="1"/>
            <a:r>
              <a:rPr lang="de-DE" dirty="0" err="1"/>
              <a:t>Impacket</a:t>
            </a:r>
            <a:endParaRPr lang="de-DE" dirty="0"/>
          </a:p>
          <a:p>
            <a:pPr lvl="1"/>
            <a:r>
              <a:rPr lang="de-DE" dirty="0" err="1"/>
              <a:t>BloodHound</a:t>
            </a:r>
            <a:endParaRPr lang="de-DE" dirty="0"/>
          </a:p>
          <a:p>
            <a:pPr lvl="1"/>
            <a:r>
              <a:rPr lang="de-DE" dirty="0" err="1"/>
              <a:t>Mimikatz</a:t>
            </a:r>
            <a:endParaRPr lang="de-DE" dirty="0"/>
          </a:p>
          <a:p>
            <a:pPr lvl="1"/>
            <a:r>
              <a:rPr lang="de-DE" dirty="0"/>
              <a:t>Evil-</a:t>
            </a:r>
            <a:r>
              <a:rPr lang="de-DE" dirty="0" err="1"/>
              <a:t>WinRM</a:t>
            </a:r>
            <a:endParaRPr lang="de-DE" dirty="0"/>
          </a:p>
          <a:p>
            <a:pPr lvl="1"/>
            <a:r>
              <a:rPr lang="de-DE" dirty="0" err="1"/>
              <a:t>crackmapexec</a:t>
            </a:r>
            <a:endParaRPr lang="de-AT" dirty="0"/>
          </a:p>
          <a:p>
            <a:r>
              <a:rPr lang="de-DE" dirty="0"/>
              <a:t>IDS-Reaktion getestet</a:t>
            </a:r>
          </a:p>
          <a:p>
            <a:r>
              <a:rPr lang="de-DE" dirty="0"/>
              <a:t>Erfolgreich Zugriff auf die Windows-11-VM erhalten</a:t>
            </a:r>
          </a:p>
          <a:p>
            <a:r>
              <a:rPr lang="de-DE" dirty="0"/>
              <a:t>Versuch, das Passwort per Brute-Force zu knacken</a:t>
            </a:r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32B7E33-1B1D-DB85-F19F-D8121096D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0327C0C-2B26-063E-B635-B232EE455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6</a:t>
            </a:fld>
            <a:endParaRPr lang="de-AT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A9854E7-CEC8-98B5-1AA0-9841348E9E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" t="47203" r="48712" b="1"/>
          <a:stretch>
            <a:fillRect/>
          </a:stretch>
        </p:blipFill>
        <p:spPr bwMode="auto">
          <a:xfrm>
            <a:off x="6243809" y="372600"/>
            <a:ext cx="4826527" cy="362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8028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A50474-149F-F33B-72A5-25F1271D2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Probleme &amp; Lösungen – Eichelberger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2DAE6E-E49B-727E-589D-B0B28DF12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 err="1"/>
              <a:t>Proxmox</a:t>
            </a:r>
            <a:r>
              <a:rPr lang="de-AT" dirty="0"/>
              <a:t> Installation (15 Stunden)</a:t>
            </a:r>
          </a:p>
          <a:p>
            <a:pPr lvl="1"/>
            <a:r>
              <a:rPr lang="de-AT" dirty="0"/>
              <a:t>Problem: </a:t>
            </a:r>
            <a:r>
              <a:rPr lang="de-AT" dirty="0" err="1"/>
              <a:t>Proxmox</a:t>
            </a:r>
            <a:r>
              <a:rPr lang="de-AT" dirty="0"/>
              <a:t> ISO-Installation hat nicht funktioniert</a:t>
            </a:r>
          </a:p>
          <a:p>
            <a:pPr lvl="1"/>
            <a:r>
              <a:rPr lang="de-AT" dirty="0"/>
              <a:t>Lösung: Debian installiert → </a:t>
            </a:r>
            <a:r>
              <a:rPr lang="de-AT" dirty="0" err="1"/>
              <a:t>Proxmox</a:t>
            </a:r>
            <a:r>
              <a:rPr lang="de-AT" dirty="0"/>
              <a:t> manuell nachinstalliert</a:t>
            </a:r>
          </a:p>
          <a:p>
            <a:r>
              <a:rPr lang="de-AT" dirty="0"/>
              <a:t>VPN-Verbindung (10 Stunden)</a:t>
            </a:r>
          </a:p>
          <a:p>
            <a:pPr lvl="1"/>
            <a:r>
              <a:rPr lang="de-AT" dirty="0"/>
              <a:t>Problem: Einrichtung von VPN-Verbindung mit </a:t>
            </a:r>
            <a:r>
              <a:rPr lang="de-AT" dirty="0" err="1"/>
              <a:t>WireGuard</a:t>
            </a:r>
            <a:endParaRPr lang="de-AT" dirty="0"/>
          </a:p>
          <a:p>
            <a:pPr lvl="1"/>
            <a:r>
              <a:rPr lang="de-AT" dirty="0"/>
              <a:t>Lösung: Einsatz von </a:t>
            </a:r>
            <a:r>
              <a:rPr lang="de-AT" dirty="0" err="1"/>
              <a:t>Tailscale</a:t>
            </a:r>
            <a:r>
              <a:rPr lang="de-AT" dirty="0"/>
              <a:t>, das auf </a:t>
            </a:r>
            <a:r>
              <a:rPr lang="de-AT" dirty="0" err="1"/>
              <a:t>WireGuard</a:t>
            </a:r>
            <a:r>
              <a:rPr lang="de-AT" dirty="0"/>
              <a:t> basiert</a:t>
            </a:r>
          </a:p>
          <a:p>
            <a:r>
              <a:rPr lang="de-AT" dirty="0"/>
              <a:t>Internet auf den VMs (5 Stunden)</a:t>
            </a:r>
          </a:p>
          <a:p>
            <a:pPr lvl="1"/>
            <a:r>
              <a:rPr lang="de-AT" dirty="0"/>
              <a:t>Problem: Sollte über GNS3 funktionieren</a:t>
            </a:r>
          </a:p>
          <a:p>
            <a:pPr lvl="1"/>
            <a:r>
              <a:rPr lang="de-AT" dirty="0"/>
              <a:t>Provisorische Lösung: Netzwerkadapter direkt an VM hängen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A42FD26-721F-16EF-FFEA-50521B2D2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0CFC13F-EC8F-3E08-7553-E7241A27F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83500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0FA8B-23D1-E3E6-3AE4-C96D9ADCD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131A11-5F76-8CE1-7291-46CDF3DA7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Probleme &amp; Lösungen – Macuha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2128CF-BF55-2BAD-A684-70BBAC8D3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464" y="1052739"/>
            <a:ext cx="11740896" cy="5073427"/>
          </a:xfrm>
        </p:spPr>
        <p:txBody>
          <a:bodyPr>
            <a:normAutofit/>
          </a:bodyPr>
          <a:lstStyle/>
          <a:p>
            <a:r>
              <a:rPr lang="de-DE" dirty="0"/>
              <a:t>Metasploit auf Windows (15 Stunden)</a:t>
            </a:r>
          </a:p>
          <a:p>
            <a:pPr lvl="1"/>
            <a:r>
              <a:rPr lang="de-DE" dirty="0"/>
              <a:t>Problem: Ich habe versucht, Metasploit auf Windows zu benutzen.</a:t>
            </a:r>
          </a:p>
          <a:p>
            <a:pPr lvl="1"/>
            <a:r>
              <a:rPr lang="de-DE" dirty="0"/>
              <a:t>Lösung: Kali Linux herunterladen.</a:t>
            </a:r>
          </a:p>
          <a:p>
            <a:r>
              <a:rPr lang="de-DE" dirty="0"/>
              <a:t>Verbindung zur Windows-11-VM ( 20 Stunden)</a:t>
            </a:r>
          </a:p>
          <a:p>
            <a:pPr lvl="1"/>
            <a:r>
              <a:rPr lang="de-DE" dirty="0"/>
              <a:t>Problem: Der NTLM-Handshake fehlte, als ich </a:t>
            </a:r>
            <a:r>
              <a:rPr lang="de-DE" dirty="0" err="1"/>
              <a:t>Meterpreter</a:t>
            </a:r>
            <a:r>
              <a:rPr lang="de-DE" dirty="0"/>
              <a:t> benutzen wollte.	</a:t>
            </a:r>
          </a:p>
          <a:p>
            <a:pPr lvl="1"/>
            <a:r>
              <a:rPr lang="de-DE" dirty="0"/>
              <a:t>Lösung: Ich habe eine andere Verbindungsmethode benutzt (Evil-</a:t>
            </a:r>
            <a:r>
              <a:rPr lang="de-DE" dirty="0" err="1"/>
              <a:t>WinRM</a:t>
            </a:r>
            <a:r>
              <a:rPr lang="de-DE" dirty="0"/>
              <a:t>).</a:t>
            </a:r>
          </a:p>
          <a:p>
            <a:r>
              <a:rPr lang="de-DE" dirty="0"/>
              <a:t>Brute-Force / Passwortangriff (10 Stunden)</a:t>
            </a:r>
          </a:p>
          <a:p>
            <a:pPr lvl="1"/>
            <a:r>
              <a:rPr lang="de-DE" dirty="0"/>
              <a:t>Problem: Da der Server nicht für SSH konfiguriert war, funktioniert Hydra nicht.</a:t>
            </a:r>
          </a:p>
          <a:p>
            <a:pPr lvl="1"/>
            <a:r>
              <a:rPr lang="de-DE" dirty="0"/>
              <a:t>Lösung: Ich musste </a:t>
            </a:r>
            <a:r>
              <a:rPr lang="de-DE" dirty="0" err="1"/>
              <a:t>CrackMapExec</a:t>
            </a:r>
            <a:r>
              <a:rPr lang="de-DE" dirty="0"/>
              <a:t> herunterladen, um RDP oder SMB als Verbindungstyp zu benutzen.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E32843B-24EF-77CB-DFF2-E02AB4E23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Eichelberger, Macuha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E3BDFFC-AD71-4E32-E937-8EBADA60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92194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D2862-54DB-2195-9164-BE96C19B7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3F3262-EEC7-6F07-7DFE-A3C6C5C17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Literatur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6BDC6E-B588-D386-F914-D3B24301B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52739"/>
            <a:ext cx="12192000" cy="5073427"/>
          </a:xfrm>
        </p:spPr>
        <p:txBody>
          <a:bodyPr>
            <a:normAutofit/>
          </a:bodyPr>
          <a:lstStyle/>
          <a:p>
            <a:r>
              <a:rPr lang="de-DE" sz="2200" dirty="0"/>
              <a:t>Bis dato durchgesehen:</a:t>
            </a:r>
            <a:endParaRPr lang="de-AT" sz="2200" dirty="0"/>
          </a:p>
          <a:p>
            <a:pPr lvl="1"/>
            <a:r>
              <a:rPr lang="de-AT" sz="2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https://www.paloaltonetworks.de/cyberpedia/what-is-an-intrusion-detection-system-ids</a:t>
            </a:r>
            <a:endParaRPr lang="de-AT" sz="2200" dirty="0"/>
          </a:p>
          <a:p>
            <a:pPr lvl="1"/>
            <a:r>
              <a:rPr lang="de-AT" sz="22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https://wazuh.com/platform/overview/</a:t>
            </a:r>
            <a:endParaRPr lang="de-AT" sz="2200" dirty="0"/>
          </a:p>
          <a:p>
            <a:pPr lvl="1"/>
            <a:r>
              <a:rPr lang="de-AT" sz="22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https://www.wireguard.com/</a:t>
            </a:r>
            <a:endParaRPr lang="de-AT" sz="2200" dirty="0"/>
          </a:p>
          <a:p>
            <a:pPr lvl="1"/>
            <a:r>
              <a:rPr lang="de-AT" sz="22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https://tailscale.com/</a:t>
            </a:r>
            <a:endParaRPr lang="de-AT" sz="2200" dirty="0"/>
          </a:p>
          <a:p>
            <a:pPr lvl="1"/>
            <a:r>
              <a:rPr lang="de-AT" sz="22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https://www.snort.org/documents#OfficialDocumentation</a:t>
            </a:r>
            <a:endParaRPr lang="de-AT" sz="2200" dirty="0"/>
          </a:p>
          <a:p>
            <a:pPr lvl="1"/>
            <a:r>
              <a:rPr lang="de-AT" sz="22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https://docs.securityonion.net/en/2.4/</a:t>
            </a:r>
            <a:endParaRPr lang="de-AT" sz="2200" dirty="0"/>
          </a:p>
          <a:p>
            <a:pPr lvl="1"/>
            <a:r>
              <a:rPr lang="de-AT" sz="2200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https://www.proxmox.com/de/</a:t>
            </a:r>
            <a:endParaRPr lang="de-AT" sz="2200" dirty="0"/>
          </a:p>
          <a:p>
            <a:pPr lvl="1"/>
            <a:r>
              <a:rPr lang="de-AT" sz="2200" dirty="0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https://www.youtube.com/watch?v=EWJM3tERMXs</a:t>
            </a:r>
            <a:r>
              <a:rPr lang="de-AT" sz="2200" dirty="0"/>
              <a:t> - </a:t>
            </a:r>
            <a:r>
              <a:rPr lang="de-DE" sz="2200" b="1" dirty="0" err="1"/>
              <a:t>Comprehensive</a:t>
            </a:r>
            <a:r>
              <a:rPr lang="de-DE" sz="2200" b="1" dirty="0"/>
              <a:t> Guide </a:t>
            </a:r>
            <a:r>
              <a:rPr lang="de-DE" sz="2200" b="1" dirty="0" err="1"/>
              <a:t>to</a:t>
            </a:r>
            <a:r>
              <a:rPr lang="de-DE" sz="2200" b="1" dirty="0"/>
              <a:t> Evil-</a:t>
            </a:r>
            <a:r>
              <a:rPr lang="de-DE" sz="2200" b="1" dirty="0" err="1"/>
              <a:t>WinRM</a:t>
            </a:r>
            <a:endParaRPr lang="de-AT" sz="2200" dirty="0"/>
          </a:p>
          <a:p>
            <a:pPr lvl="1"/>
            <a:r>
              <a:rPr lang="de-AT" sz="2200" dirty="0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https://www.youtube.com/watch?v=K7y_-JtpZ7I</a:t>
            </a:r>
            <a:r>
              <a:rPr lang="de-AT" sz="2200" dirty="0"/>
              <a:t> -</a:t>
            </a:r>
            <a:r>
              <a:rPr lang="de-DE" sz="2200" b="1" dirty="0"/>
              <a:t> Metasploit </a:t>
            </a:r>
            <a:r>
              <a:rPr lang="de-DE" sz="2200" b="1" dirty="0" err="1"/>
              <a:t>For</a:t>
            </a:r>
            <a:r>
              <a:rPr lang="de-DE" sz="2200" b="1" dirty="0"/>
              <a:t> Beginners</a:t>
            </a:r>
            <a:endParaRPr lang="de-AT" sz="2200" dirty="0"/>
          </a:p>
          <a:p>
            <a:pPr lvl="1"/>
            <a:r>
              <a:rPr lang="de-AT" sz="2200" dirty="0"/>
              <a:t>https://www.kali.org/tools</a:t>
            </a:r>
          </a:p>
          <a:p>
            <a:pPr lvl="1"/>
            <a:endParaRPr lang="de-AT" sz="22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AFEA43-FBDA-8968-2225-D0226BEEA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4F9D4E-3C17-F5C9-605C-FE1673A26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9123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271540-1D7A-F789-8EEA-02E5AD275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0E9A5D-F9C7-9596-A268-3BBEE4356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1BEF806-85D6-BDA8-B93B-909C9ED0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3569BF6-9ACC-AC52-7A0C-4A7CA614C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10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24426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B6B2E-F40F-FFB8-F101-07060F5DD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26">
            <a:extLst>
              <a:ext uri="{FF2B5EF4-FFF2-40B4-BE49-F238E27FC236}">
                <a16:creationId xmlns:a16="http://schemas.microsoft.com/office/drawing/2014/main" id="{86CBB10A-5A37-947E-D445-26493C398328}"/>
              </a:ext>
            </a:extLst>
          </p:cNvPr>
          <p:cNvSpPr txBox="1">
            <a:spLocks noChangeArrowheads="1"/>
          </p:cNvSpPr>
          <p:nvPr/>
        </p:nvSpPr>
        <p:spPr>
          <a:xfrm>
            <a:off x="3100532" y="2949109"/>
            <a:ext cx="6673178" cy="1459726"/>
          </a:xfrm>
          <a:prstGeom prst="rect">
            <a:avLst/>
          </a:prstGeom>
        </p:spPr>
        <p:txBody>
          <a:bodyPr/>
          <a:lstStyle/>
          <a:p>
            <a:r>
              <a:rPr lang="de-DE" sz="3200" b="1" dirty="0">
                <a:solidFill>
                  <a:srgbClr val="9BBB59"/>
                </a:solidFill>
              </a:rPr>
              <a:t>Virtuelle </a:t>
            </a:r>
            <a:r>
              <a:rPr lang="de-DE" sz="3200" b="1" dirty="0" err="1">
                <a:solidFill>
                  <a:srgbClr val="9BBB59"/>
                </a:solidFill>
              </a:rPr>
              <a:t>Cybersecurity</a:t>
            </a:r>
            <a:r>
              <a:rPr lang="de-DE" sz="3200" b="1" dirty="0">
                <a:solidFill>
                  <a:srgbClr val="9BBB59"/>
                </a:solidFill>
              </a:rPr>
              <a:t>-Testumgebung mit IDS </a:t>
            </a:r>
          </a:p>
        </p:txBody>
      </p:sp>
      <p:sp>
        <p:nvSpPr>
          <p:cNvPr id="7" name="Text Box 1030">
            <a:extLst>
              <a:ext uri="{FF2B5EF4-FFF2-40B4-BE49-F238E27FC236}">
                <a16:creationId xmlns:a16="http://schemas.microsoft.com/office/drawing/2014/main" id="{922C350B-547B-117C-0168-0196C7E63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7121" y="4209170"/>
            <a:ext cx="222656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Ins="54000">
            <a:spAutoFit/>
          </a:bodyPr>
          <a:lstStyle/>
          <a:p>
            <a:r>
              <a:rPr lang="nl-NL" sz="2000" dirty="0"/>
              <a:t>Tobias Eichelberger</a:t>
            </a:r>
          </a:p>
          <a:p>
            <a:r>
              <a:rPr lang="nl-NL" sz="2000" dirty="0"/>
              <a:t>Lukas </a:t>
            </a:r>
            <a:r>
              <a:rPr lang="nl-NL" sz="2000" dirty="0" err="1"/>
              <a:t>Macuha</a:t>
            </a:r>
            <a:endParaRPr lang="nl-NL" sz="2000" dirty="0"/>
          </a:p>
        </p:txBody>
      </p:sp>
      <p:sp>
        <p:nvSpPr>
          <p:cNvPr id="8" name="Text Box 1030">
            <a:extLst>
              <a:ext uri="{FF2B5EF4-FFF2-40B4-BE49-F238E27FC236}">
                <a16:creationId xmlns:a16="http://schemas.microsoft.com/office/drawing/2014/main" id="{D3CD92B3-CBCF-8821-7A93-D770F0BAE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5054" y="4943680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r>
              <a:rPr lang="de-AT" dirty="0"/>
              <a:t>25.06.2025</a:t>
            </a:r>
          </a:p>
        </p:txBody>
      </p:sp>
      <p:sp>
        <p:nvSpPr>
          <p:cNvPr id="5" name="Text Box 1030">
            <a:extLst>
              <a:ext uri="{FF2B5EF4-FFF2-40B4-BE49-F238E27FC236}">
                <a16:creationId xmlns:a16="http://schemas.microsoft.com/office/drawing/2014/main" id="{E78589BD-DC6C-DF58-48E7-68AB7247C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8750" y="5286388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dirty="0"/>
              <a:t>Betreuer/in: DI Dr. Thomas Messner</a:t>
            </a:r>
          </a:p>
        </p:txBody>
      </p:sp>
      <p:sp>
        <p:nvSpPr>
          <p:cNvPr id="9" name="Text Box 1030">
            <a:extLst>
              <a:ext uri="{FF2B5EF4-FFF2-40B4-BE49-F238E27FC236}">
                <a16:creationId xmlns:a16="http://schemas.microsoft.com/office/drawing/2014/main" id="{2738EB9A-B990-179B-C7FF-BCD7C5AE2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590" y="5608392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dirty="0"/>
              <a:t>Firmenpartner: HTL Leoben</a:t>
            </a:r>
          </a:p>
        </p:txBody>
      </p:sp>
    </p:spTree>
    <p:extLst>
      <p:ext uri="{BB962C8B-B14F-4D97-AF65-F5344CB8AC3E}">
        <p14:creationId xmlns:p14="http://schemas.microsoft.com/office/powerpoint/2010/main" val="408384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08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de-AT" dirty="0"/>
              <a:t>Partner/Aufgabenstellung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72719" y="1031791"/>
            <a:ext cx="7525253" cy="510484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de-AT" sz="2600" dirty="0"/>
              <a:t>Partner: HTL Leoben</a:t>
            </a:r>
          </a:p>
          <a:p>
            <a:pPr marL="0" indent="0">
              <a:lnSpc>
                <a:spcPct val="90000"/>
              </a:lnSpc>
              <a:buNone/>
            </a:pPr>
            <a:endParaRPr lang="de-AT" sz="2400" dirty="0"/>
          </a:p>
          <a:p>
            <a:pPr>
              <a:lnSpc>
                <a:spcPct val="90000"/>
              </a:lnSpc>
            </a:pPr>
            <a:r>
              <a:rPr lang="de-AT" sz="2600" dirty="0"/>
              <a:t>Aufgabenstellung</a:t>
            </a:r>
            <a:endParaRPr lang="de-DE" sz="2600" dirty="0"/>
          </a:p>
          <a:p>
            <a:pPr lvl="1">
              <a:lnSpc>
                <a:spcPct val="90000"/>
              </a:lnSpc>
            </a:pPr>
            <a:r>
              <a:rPr lang="de-DE" dirty="0"/>
              <a:t>Eichelbeger: Blue Team</a:t>
            </a:r>
          </a:p>
          <a:p>
            <a:pPr lvl="2">
              <a:lnSpc>
                <a:spcPct val="90000"/>
              </a:lnSpc>
            </a:pPr>
            <a:r>
              <a:rPr lang="de-DE" sz="2400" dirty="0"/>
              <a:t>Entwicklung einer sicheren, virtuellen Netzwerkumgebung, auf einem Server der HTL, die durch ein IDS überwacht wird</a:t>
            </a:r>
          </a:p>
          <a:p>
            <a:pPr lvl="2">
              <a:lnSpc>
                <a:spcPct val="90000"/>
              </a:lnSpc>
            </a:pPr>
            <a:endParaRPr lang="de-DE" sz="2400" dirty="0"/>
          </a:p>
          <a:p>
            <a:pPr lvl="1">
              <a:lnSpc>
                <a:spcPct val="90000"/>
              </a:lnSpc>
            </a:pPr>
            <a:r>
              <a:rPr lang="de-DE" dirty="0" err="1"/>
              <a:t>Macuha</a:t>
            </a:r>
            <a:r>
              <a:rPr lang="de-DE" dirty="0"/>
              <a:t>: </a:t>
            </a:r>
            <a:r>
              <a:rPr lang="de-DE" dirty="0" err="1"/>
              <a:t>Red</a:t>
            </a:r>
            <a:r>
              <a:rPr lang="de-DE" dirty="0"/>
              <a:t> Team</a:t>
            </a:r>
          </a:p>
          <a:p>
            <a:pPr lvl="2">
              <a:lnSpc>
                <a:spcPct val="90000"/>
              </a:lnSpc>
            </a:pPr>
            <a:r>
              <a:rPr lang="de-DE" sz="2400" dirty="0"/>
              <a:t>Durchführung von Netzwerkscans und Angriffssimulationen mithilfe von Tools wie </a:t>
            </a:r>
            <a:r>
              <a:rPr lang="de-DE" sz="2400" dirty="0" err="1"/>
              <a:t>Nmap</a:t>
            </a:r>
            <a:r>
              <a:rPr lang="de-DE" sz="2400" dirty="0"/>
              <a:t>, </a:t>
            </a:r>
            <a:r>
              <a:rPr lang="de-DE" sz="2400" dirty="0" err="1"/>
              <a:t>Mimikatz</a:t>
            </a:r>
            <a:r>
              <a:rPr lang="de-DE" sz="2400" dirty="0"/>
              <a:t> und Metasploit zur Generierung von IDS-Ereignissen</a:t>
            </a:r>
          </a:p>
        </p:txBody>
      </p:sp>
      <p:pic>
        <p:nvPicPr>
          <p:cNvPr id="8" name="Grafik 7" descr="Ein Bild, das Text, Screenshot, Display, Design enthält.&#10;&#10;KI-generierte Inhalte können fehlerhaft sein.">
            <a:extLst>
              <a:ext uri="{FF2B5EF4-FFF2-40B4-BE49-F238E27FC236}">
                <a16:creationId xmlns:a16="http://schemas.microsoft.com/office/drawing/2014/main" id="{047880BD-C219-E789-E715-F6F0B444F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05" r="12421"/>
          <a:stretch>
            <a:fillRect/>
          </a:stretch>
        </p:blipFill>
        <p:spPr>
          <a:xfrm>
            <a:off x="7772400" y="1005264"/>
            <a:ext cx="3810000" cy="5157902"/>
          </a:xfrm>
          <a:prstGeom prst="rect">
            <a:avLst/>
          </a:prstGeom>
          <a:noFill/>
        </p:spPr>
      </p:pic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DCD6803-3BAA-44F6-A698-23D950C9713B}" type="slidenum">
              <a:rPr lang="de-AT" smtClean="0"/>
              <a:pPr>
                <a:spcAft>
                  <a:spcPts val="600"/>
                </a:spcAft>
              </a:pPr>
              <a:t>12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10119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5DAF0-A5C6-C1BA-77E0-006F87B8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45185-67B2-8D84-AB4E-4315A3FAF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Ziele und SDG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F6DE72-14AF-10DA-61D0-7BAB5F6E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B55603-CF8D-A47B-A913-ED1FC2301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sz="2600" dirty="0"/>
              <a:t>Ziel ist es eine virtuelle Umgebung mit 1 Clients und 1 Domaincontroller zu gestalten die durch ein IDS-System gesichert wird und 5 Angriffe von einem Client erkennt bis 31.01.2026</a:t>
            </a:r>
          </a:p>
          <a:p>
            <a:endParaRPr lang="de-AT" dirty="0"/>
          </a:p>
          <a:p>
            <a:r>
              <a:rPr lang="de-AT" sz="2600" dirty="0"/>
              <a:t>SDG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EA7907D-8937-2003-2E39-1274A1650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13</a:t>
            </a:fld>
            <a:endParaRPr lang="de-AT"/>
          </a:p>
        </p:txBody>
      </p:sp>
      <p:pic>
        <p:nvPicPr>
          <p:cNvPr id="6" name="Inhaltsplatzhalter 6">
            <a:extLst>
              <a:ext uri="{FF2B5EF4-FFF2-40B4-BE49-F238E27FC236}">
                <a16:creationId xmlns:a16="http://schemas.microsoft.com/office/drawing/2014/main" id="{1EEDD22D-15C7-41BC-9DC0-E67418F3E0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17"/>
          <a:stretch>
            <a:fillRect/>
          </a:stretch>
        </p:blipFill>
        <p:spPr>
          <a:xfrm>
            <a:off x="989441" y="3256279"/>
            <a:ext cx="2169354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756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96C6BA-99A1-43F4-92B8-B6D762EF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PM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28378C-21E0-453B-B255-71BAC911E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Milestones</a:t>
            </a:r>
          </a:p>
          <a:p>
            <a:pPr lvl="1"/>
            <a:r>
              <a:rPr lang="de-DE" dirty="0"/>
              <a:t>18.05.2025 – </a:t>
            </a:r>
            <a:r>
              <a:rPr lang="de-DE" dirty="0" err="1"/>
              <a:t>Proxmox</a:t>
            </a:r>
            <a:r>
              <a:rPr lang="de-DE" dirty="0"/>
              <a:t>-Server eingerichtet</a:t>
            </a:r>
          </a:p>
          <a:p>
            <a:pPr lvl="1"/>
            <a:r>
              <a:rPr lang="de-DE" dirty="0"/>
              <a:t>06.07.2025 – VPN-Verbindung erfolgreich eingerichtet</a:t>
            </a:r>
          </a:p>
          <a:p>
            <a:pPr lvl="1"/>
            <a:r>
              <a:rPr lang="de-DE" dirty="0"/>
              <a:t>26.07.2025 – GNS3 installiert</a:t>
            </a:r>
          </a:p>
          <a:p>
            <a:pPr lvl="1"/>
            <a:r>
              <a:rPr lang="de-DE" dirty="0"/>
              <a:t>17.08.2025 – Client und Domaincontroller eingerichtet</a:t>
            </a:r>
          </a:p>
          <a:p>
            <a:pPr lvl="1"/>
            <a:r>
              <a:rPr lang="de-DE" dirty="0"/>
              <a:t>28.08.2025 – Netzwerkscan mit </a:t>
            </a:r>
            <a:r>
              <a:rPr lang="de-DE" dirty="0" err="1"/>
              <a:t>Nmap</a:t>
            </a:r>
            <a:r>
              <a:rPr lang="de-DE" dirty="0"/>
              <a:t> und </a:t>
            </a:r>
            <a:r>
              <a:rPr lang="de-DE" dirty="0" err="1"/>
              <a:t>Netdiscover</a:t>
            </a:r>
            <a:r>
              <a:rPr lang="de-DE" dirty="0"/>
              <a:t> durchgeführt</a:t>
            </a:r>
          </a:p>
          <a:p>
            <a:pPr lvl="1"/>
            <a:r>
              <a:rPr lang="de-DE" dirty="0"/>
              <a:t>31.08.2025 – Drei IDS-Systeme miteinander verglichen</a:t>
            </a:r>
          </a:p>
          <a:p>
            <a:pPr lvl="1"/>
            <a:r>
              <a:rPr lang="de-DE" dirty="0"/>
              <a:t>07.09.2025 – Ausgewähltes IDS-System implementiert</a:t>
            </a:r>
          </a:p>
          <a:p>
            <a:pPr lvl="1"/>
            <a:r>
              <a:rPr lang="de-DE" dirty="0"/>
              <a:t>13.09.2025 – Erste Simulation mit </a:t>
            </a:r>
            <a:r>
              <a:rPr lang="de-DE" dirty="0" err="1"/>
              <a:t>Mimikatz</a:t>
            </a:r>
            <a:r>
              <a:rPr lang="de-DE" dirty="0"/>
              <a:t> und Metasploit durchgeführt</a:t>
            </a:r>
          </a:p>
          <a:p>
            <a:pPr lvl="1"/>
            <a:r>
              <a:rPr lang="de-DE" dirty="0"/>
              <a:t>15.09.2025 – Reaktion des IDS überprüft</a:t>
            </a:r>
          </a:p>
          <a:p>
            <a:pPr lvl="1"/>
            <a:r>
              <a:rPr lang="de-AT" dirty="0"/>
              <a:t>31.01.2026 </a:t>
            </a:r>
            <a:r>
              <a:rPr lang="de-DE" dirty="0"/>
              <a:t>– Dokumentation abgeschlossen</a:t>
            </a:r>
          </a:p>
          <a:p>
            <a:pPr lvl="1"/>
            <a:endParaRPr lang="de-AT" dirty="0"/>
          </a:p>
          <a:p>
            <a:pPr lvl="1"/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AADA028-308D-430B-A45B-407D875A2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38338F-922C-40A7-B140-637B8277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14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25704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3EB63-2D37-4153-86A6-53385D511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224496-3E36-E131-5A0B-08DECBC5B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PM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26E328-CC8D-3AD6-AA06-C00B5B16D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Kostenabschätzung und Bedeckung</a:t>
            </a:r>
          </a:p>
          <a:p>
            <a:pPr lvl="1"/>
            <a:r>
              <a:rPr lang="de-AT" dirty="0"/>
              <a:t>Lüfter Server 13,80€</a:t>
            </a:r>
          </a:p>
          <a:p>
            <a:pPr lvl="1"/>
            <a:r>
              <a:rPr lang="de-AT" dirty="0"/>
              <a:t>Buchdruck 50€</a:t>
            </a:r>
          </a:p>
          <a:p>
            <a:pPr lvl="1"/>
            <a:endParaRPr lang="de-AT" dirty="0"/>
          </a:p>
          <a:p>
            <a:pPr lvl="1"/>
            <a:endParaRPr lang="de-AT" dirty="0"/>
          </a:p>
          <a:p>
            <a:pPr lvl="1"/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573159A-5932-8292-B71B-AF9A997CC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E2EE97-97B8-C818-6074-D1856C832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15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17498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96C6BA-99A1-43F4-92B8-B6D762EF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Literatur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28378C-21E0-453B-B255-71BAC911E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Bis dato durchgesehen:</a:t>
            </a:r>
            <a:endParaRPr lang="de-AT" dirty="0"/>
          </a:p>
          <a:p>
            <a:pPr lvl="1"/>
            <a:r>
              <a:rPr lang="de-AT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https://www.paloaltonetworks.de/cyberpedia/what-is-an-intrusion-detection-system-ids</a:t>
            </a:r>
            <a:endParaRPr lang="de-AT" dirty="0"/>
          </a:p>
          <a:p>
            <a:pPr lvl="1"/>
            <a:r>
              <a:rPr lang="de-AT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https://wazuh.com/platform/overview/</a:t>
            </a:r>
            <a:endParaRPr lang="de-AT" dirty="0"/>
          </a:p>
          <a:p>
            <a:pPr lvl="1"/>
            <a:r>
              <a:rPr lang="de-AT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https://www.wireguard.com/</a:t>
            </a:r>
            <a:endParaRPr lang="de-AT" dirty="0"/>
          </a:p>
          <a:p>
            <a:pPr lvl="1"/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AADA028-308D-430B-A45B-407D875A2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Diplomarbeit Eichelberger, </a:t>
            </a:r>
            <a:r>
              <a:rPr lang="de-AT" dirty="0" err="1"/>
              <a:t>Macuha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38338F-922C-40A7-B140-637B8277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16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29837528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5F8F8BE0F772449AA3E28E2051A517F" ma:contentTypeVersion="0" ma:contentTypeDescription="Ein neues Dokument erstellen." ma:contentTypeScope="" ma:versionID="0d260f8c1711e932026baa77adf3512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0627edd4f09c1f414843cf0643fb7b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2B322D-2084-418A-8960-B074ADC5B6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B09AE3-FA1D-40C8-A6CE-A2D9F55131C8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elements/1.1/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2C214F1-4297-4767-8275-0DA039616A9F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738</Words>
  <Application>Microsoft Office PowerPoint</Application>
  <PresentationFormat>Breitbild</PresentationFormat>
  <Paragraphs>146</Paragraphs>
  <Slides>16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1" baseType="lpstr">
      <vt:lpstr>Adobe Gothic Std B</vt:lpstr>
      <vt:lpstr>Arial</vt:lpstr>
      <vt:lpstr>Calibri</vt:lpstr>
      <vt:lpstr>Wingdings</vt:lpstr>
      <vt:lpstr>Larissa</vt:lpstr>
      <vt:lpstr>PowerPoint-Präsentation</vt:lpstr>
      <vt:lpstr>PM</vt:lpstr>
      <vt:lpstr>PM</vt:lpstr>
      <vt:lpstr>PM</vt:lpstr>
      <vt:lpstr>Aktueller Stand – Eichelberger </vt:lpstr>
      <vt:lpstr>Aktueller Stand – Macuha </vt:lpstr>
      <vt:lpstr>Probleme &amp; Lösungen – Eichelberger </vt:lpstr>
      <vt:lpstr>Probleme &amp; Lösungen – Macuha</vt:lpstr>
      <vt:lpstr>Literatur</vt:lpstr>
      <vt:lpstr>PowerPoint-Präsentation</vt:lpstr>
      <vt:lpstr>PowerPoint-Präsentation</vt:lpstr>
      <vt:lpstr>Partner/Aufgabenstellung</vt:lpstr>
      <vt:lpstr>Ziele und SDG</vt:lpstr>
      <vt:lpstr>PM</vt:lpstr>
      <vt:lpstr>PM</vt:lpstr>
      <vt:lpstr>Literatur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alexandra</dc:creator>
  <cp:lastModifiedBy>Eichelberger Tobias</cp:lastModifiedBy>
  <cp:revision>307</cp:revision>
  <cp:lastPrinted>2020-04-02T17:36:48Z</cp:lastPrinted>
  <dcterms:created xsi:type="dcterms:W3CDTF">2012-09-14T17:11:23Z</dcterms:created>
  <dcterms:modified xsi:type="dcterms:W3CDTF">2025-11-07T10:23:00Z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0x010100B5F8F8BE0F772449AA3E28E2051A517F</vt:lpwstr>
  </property>
</Properties>
</file>